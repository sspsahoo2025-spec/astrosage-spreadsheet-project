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4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1" r:id="rId18"/>
    <p:sldId id="276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1B213D"/>
                </a:solidFill>
                <a:latin typeface="Segoe UI Semibold"/>
              </a:defRPr>
            </a:pPr>
            <a:r>
              <a:t>Daily Consultation Volume   ·   1 Dec 2023 – 3 Jan 2024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consultations</c:v>
                </c:pt>
              </c:strCache>
            </c:strRef>
          </c:tx>
          <c:spPr>
            <a:gradFill>
              <a:gsLst>
                <a:gs pos="0">
                  <a:srgbClr val="9E8BFC"/>
                </a:gs>
                <a:gs pos="100000">
                  <a:srgbClr val="EBE7FE"/>
                </a:gs>
              </a:gsLst>
              <a:lin ang="5400000" scaled="1"/>
            </a:gradFill>
            <a:ln w="28575">
              <a:solidFill>
                <a:srgbClr val="7C5CFC"/>
              </a:solidFill>
            </a:ln>
          </c:spPr>
          <c:cat>
            <c:strRef>
              <c:f>Sheet1!$A$2:$A$35</c:f>
              <c:strCache>
                <c:ptCount val="34"/>
                <c:pt idx="0">
                  <c:v>12/01</c:v>
                </c:pt>
                <c:pt idx="1">
                  <c:v>12/02</c:v>
                </c:pt>
                <c:pt idx="2">
                  <c:v>12/03</c:v>
                </c:pt>
                <c:pt idx="3">
                  <c:v>12/04</c:v>
                </c:pt>
                <c:pt idx="4">
                  <c:v>12/05</c:v>
                </c:pt>
                <c:pt idx="5">
                  <c:v>12/06</c:v>
                </c:pt>
                <c:pt idx="6">
                  <c:v>12/07</c:v>
                </c:pt>
                <c:pt idx="7">
                  <c:v>12/08</c:v>
                </c:pt>
                <c:pt idx="8">
                  <c:v>12/09</c:v>
                </c:pt>
                <c:pt idx="9">
                  <c:v>12/10</c:v>
                </c:pt>
                <c:pt idx="10">
                  <c:v>12/11</c:v>
                </c:pt>
                <c:pt idx="11">
                  <c:v>12/12</c:v>
                </c:pt>
                <c:pt idx="12">
                  <c:v>12/13</c:v>
                </c:pt>
                <c:pt idx="13">
                  <c:v>12/14</c:v>
                </c:pt>
                <c:pt idx="14">
                  <c:v>12/15</c:v>
                </c:pt>
                <c:pt idx="15">
                  <c:v>12/16</c:v>
                </c:pt>
                <c:pt idx="16">
                  <c:v>12/17</c:v>
                </c:pt>
                <c:pt idx="17">
                  <c:v>12/18</c:v>
                </c:pt>
                <c:pt idx="18">
                  <c:v>12/19</c:v>
                </c:pt>
                <c:pt idx="19">
                  <c:v>12/20</c:v>
                </c:pt>
                <c:pt idx="20">
                  <c:v>12/21</c:v>
                </c:pt>
                <c:pt idx="21">
                  <c:v>12/22</c:v>
                </c:pt>
                <c:pt idx="22">
                  <c:v>12/23</c:v>
                </c:pt>
                <c:pt idx="23">
                  <c:v>12/24</c:v>
                </c:pt>
                <c:pt idx="24">
                  <c:v>12/25</c:v>
                </c:pt>
                <c:pt idx="25">
                  <c:v>12/26</c:v>
                </c:pt>
                <c:pt idx="26">
                  <c:v>12/27</c:v>
                </c:pt>
                <c:pt idx="27">
                  <c:v>12/28</c:v>
                </c:pt>
                <c:pt idx="28">
                  <c:v>12/29</c:v>
                </c:pt>
                <c:pt idx="29">
                  <c:v>12/30</c:v>
                </c:pt>
                <c:pt idx="30">
                  <c:v>12/31</c:v>
                </c:pt>
                <c:pt idx="31">
                  <c:v>01/01</c:v>
                </c:pt>
                <c:pt idx="32">
                  <c:v>01/02</c:v>
                </c:pt>
                <c:pt idx="33">
                  <c:v>01/03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1056</c:v>
                </c:pt>
                <c:pt idx="1">
                  <c:v>1006</c:v>
                </c:pt>
                <c:pt idx="2">
                  <c:v>994</c:v>
                </c:pt>
                <c:pt idx="3">
                  <c:v>931</c:v>
                </c:pt>
                <c:pt idx="4">
                  <c:v>715</c:v>
                </c:pt>
                <c:pt idx="5">
                  <c:v>523</c:v>
                </c:pt>
                <c:pt idx="6">
                  <c:v>531</c:v>
                </c:pt>
                <c:pt idx="7">
                  <c:v>338</c:v>
                </c:pt>
                <c:pt idx="8">
                  <c:v>438</c:v>
                </c:pt>
                <c:pt idx="9">
                  <c:v>594</c:v>
                </c:pt>
                <c:pt idx="10">
                  <c:v>582</c:v>
                </c:pt>
                <c:pt idx="11">
                  <c:v>555</c:v>
                </c:pt>
                <c:pt idx="12">
                  <c:v>619</c:v>
                </c:pt>
                <c:pt idx="13">
                  <c:v>917</c:v>
                </c:pt>
                <c:pt idx="14">
                  <c:v>1324</c:v>
                </c:pt>
                <c:pt idx="15">
                  <c:v>952</c:v>
                </c:pt>
                <c:pt idx="16">
                  <c:v>929</c:v>
                </c:pt>
                <c:pt idx="17">
                  <c:v>1074</c:v>
                </c:pt>
                <c:pt idx="18">
                  <c:v>1046</c:v>
                </c:pt>
                <c:pt idx="19">
                  <c:v>855</c:v>
                </c:pt>
                <c:pt idx="20">
                  <c:v>816</c:v>
                </c:pt>
                <c:pt idx="21">
                  <c:v>775</c:v>
                </c:pt>
                <c:pt idx="22">
                  <c:v>1059</c:v>
                </c:pt>
                <c:pt idx="23">
                  <c:v>1061</c:v>
                </c:pt>
                <c:pt idx="24">
                  <c:v>1098</c:v>
                </c:pt>
                <c:pt idx="25">
                  <c:v>808</c:v>
                </c:pt>
                <c:pt idx="26">
                  <c:v>1001</c:v>
                </c:pt>
                <c:pt idx="27">
                  <c:v>1077</c:v>
                </c:pt>
                <c:pt idx="28">
                  <c:v>1022</c:v>
                </c:pt>
                <c:pt idx="29">
                  <c:v>778</c:v>
                </c:pt>
                <c:pt idx="30">
                  <c:v>1014</c:v>
                </c:pt>
                <c:pt idx="31">
                  <c:v>325</c:v>
                </c:pt>
                <c:pt idx="32">
                  <c:v>845</c:v>
                </c:pt>
                <c:pt idx="33">
                  <c:v>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E8-43C9-8898-EEEE4686E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Average  824/day</c:v>
                </c:pt>
              </c:strCache>
            </c:strRef>
          </c:tx>
          <c:spPr>
            <a:ln w="25400">
              <a:solidFill>
                <a:srgbClr val="F5B841"/>
              </a:solidFill>
              <a:prstDash val="dash"/>
            </a:ln>
          </c:spPr>
          <c:marker>
            <c:symbol val="none"/>
          </c:marker>
          <c:cat>
            <c:strRef>
              <c:f>Sheet1!$A$2:$A$35</c:f>
              <c:strCache>
                <c:ptCount val="34"/>
                <c:pt idx="0">
                  <c:v>12/01</c:v>
                </c:pt>
                <c:pt idx="1">
                  <c:v>12/02</c:v>
                </c:pt>
                <c:pt idx="2">
                  <c:v>12/03</c:v>
                </c:pt>
                <c:pt idx="3">
                  <c:v>12/04</c:v>
                </c:pt>
                <c:pt idx="4">
                  <c:v>12/05</c:v>
                </c:pt>
                <c:pt idx="5">
                  <c:v>12/06</c:v>
                </c:pt>
                <c:pt idx="6">
                  <c:v>12/07</c:v>
                </c:pt>
                <c:pt idx="7">
                  <c:v>12/08</c:v>
                </c:pt>
                <c:pt idx="8">
                  <c:v>12/09</c:v>
                </c:pt>
                <c:pt idx="9">
                  <c:v>12/10</c:v>
                </c:pt>
                <c:pt idx="10">
                  <c:v>12/11</c:v>
                </c:pt>
                <c:pt idx="11">
                  <c:v>12/12</c:v>
                </c:pt>
                <c:pt idx="12">
                  <c:v>12/13</c:v>
                </c:pt>
                <c:pt idx="13">
                  <c:v>12/14</c:v>
                </c:pt>
                <c:pt idx="14">
                  <c:v>12/15</c:v>
                </c:pt>
                <c:pt idx="15">
                  <c:v>12/16</c:v>
                </c:pt>
                <c:pt idx="16">
                  <c:v>12/17</c:v>
                </c:pt>
                <c:pt idx="17">
                  <c:v>12/18</c:v>
                </c:pt>
                <c:pt idx="18">
                  <c:v>12/19</c:v>
                </c:pt>
                <c:pt idx="19">
                  <c:v>12/20</c:v>
                </c:pt>
                <c:pt idx="20">
                  <c:v>12/21</c:v>
                </c:pt>
                <c:pt idx="21">
                  <c:v>12/22</c:v>
                </c:pt>
                <c:pt idx="22">
                  <c:v>12/23</c:v>
                </c:pt>
                <c:pt idx="23">
                  <c:v>12/24</c:v>
                </c:pt>
                <c:pt idx="24">
                  <c:v>12/25</c:v>
                </c:pt>
                <c:pt idx="25">
                  <c:v>12/26</c:v>
                </c:pt>
                <c:pt idx="26">
                  <c:v>12/27</c:v>
                </c:pt>
                <c:pt idx="27">
                  <c:v>12/28</c:v>
                </c:pt>
                <c:pt idx="28">
                  <c:v>12/29</c:v>
                </c:pt>
                <c:pt idx="29">
                  <c:v>12/30</c:v>
                </c:pt>
                <c:pt idx="30">
                  <c:v>12/31</c:v>
                </c:pt>
                <c:pt idx="31">
                  <c:v>01/01</c:v>
                </c:pt>
                <c:pt idx="32">
                  <c:v>01/02</c:v>
                </c:pt>
                <c:pt idx="33">
                  <c:v>01/03</c:v>
                </c:pt>
              </c:strCache>
            </c:strRef>
          </c:cat>
          <c:val>
            <c:numRef>
              <c:f>Sheet1!$C$2:$C$35</c:f>
              <c:numCache>
                <c:formatCode>General</c:formatCode>
                <c:ptCount val="34"/>
                <c:pt idx="0">
                  <c:v>824</c:v>
                </c:pt>
                <c:pt idx="1">
                  <c:v>824</c:v>
                </c:pt>
                <c:pt idx="2">
                  <c:v>824</c:v>
                </c:pt>
                <c:pt idx="3">
                  <c:v>824</c:v>
                </c:pt>
                <c:pt idx="4">
                  <c:v>824</c:v>
                </c:pt>
                <c:pt idx="5">
                  <c:v>824</c:v>
                </c:pt>
                <c:pt idx="6">
                  <c:v>824</c:v>
                </c:pt>
                <c:pt idx="7">
                  <c:v>824</c:v>
                </c:pt>
                <c:pt idx="8">
                  <c:v>824</c:v>
                </c:pt>
                <c:pt idx="9">
                  <c:v>824</c:v>
                </c:pt>
                <c:pt idx="10">
                  <c:v>824</c:v>
                </c:pt>
                <c:pt idx="11">
                  <c:v>824</c:v>
                </c:pt>
                <c:pt idx="12">
                  <c:v>824</c:v>
                </c:pt>
                <c:pt idx="13">
                  <c:v>824</c:v>
                </c:pt>
                <c:pt idx="14">
                  <c:v>824</c:v>
                </c:pt>
                <c:pt idx="15">
                  <c:v>824</c:v>
                </c:pt>
                <c:pt idx="16">
                  <c:v>824</c:v>
                </c:pt>
                <c:pt idx="17">
                  <c:v>824</c:v>
                </c:pt>
                <c:pt idx="18">
                  <c:v>824</c:v>
                </c:pt>
                <c:pt idx="19">
                  <c:v>824</c:v>
                </c:pt>
                <c:pt idx="20">
                  <c:v>824</c:v>
                </c:pt>
                <c:pt idx="21">
                  <c:v>824</c:v>
                </c:pt>
                <c:pt idx="22">
                  <c:v>824</c:v>
                </c:pt>
                <c:pt idx="23">
                  <c:v>824</c:v>
                </c:pt>
                <c:pt idx="24">
                  <c:v>824</c:v>
                </c:pt>
                <c:pt idx="25">
                  <c:v>824</c:v>
                </c:pt>
                <c:pt idx="26">
                  <c:v>824</c:v>
                </c:pt>
                <c:pt idx="27">
                  <c:v>824</c:v>
                </c:pt>
                <c:pt idx="28">
                  <c:v>824</c:v>
                </c:pt>
                <c:pt idx="29">
                  <c:v>824</c:v>
                </c:pt>
                <c:pt idx="30">
                  <c:v>824</c:v>
                </c:pt>
                <c:pt idx="31">
                  <c:v>824</c:v>
                </c:pt>
                <c:pt idx="32">
                  <c:v>824</c:v>
                </c:pt>
                <c:pt idx="33">
                  <c:v>824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0E8-43C9-8898-EEEE4686E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01159928"/>
        <c:axId val="-2100718248"/>
      </c:line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800" b="0">
                <a:solidFill>
                  <a:srgbClr val="9AA0B8"/>
                </a:solidFill>
                <a:latin typeface="Segoe UI"/>
              </a:defRPr>
            </a:pPr>
            <a:endParaRPr lang="en-US"/>
          </a:p>
        </c:txPr>
        <c:crossAx val="-2100718248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-2100718248"/>
        <c:scaling>
          <c:orientation val="minMax"/>
          <c:max val="1500"/>
          <c:min val="0"/>
        </c:scaling>
        <c:delete val="0"/>
        <c:axPos val="l"/>
        <c:majorGridlines>
          <c:spPr>
            <a:ln w="6350">
              <a:solidFill>
                <a:srgbClr val="EEF0F7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 b="0">
                <a:solidFill>
                  <a:srgbClr val="9AA0B8"/>
                </a:solidFill>
                <a:latin typeface="Segoe UI"/>
              </a:defRPr>
            </a:pPr>
            <a:endParaRPr lang="en-US"/>
          </a:p>
        </c:txPr>
        <c:crossAx val="-2101159928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94063"/>
              </a:solidFill>
              <a:latin typeface="Segoe UI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B213D"/>
                </a:solidFill>
                <a:latin typeface="Segoe UI Semibold"/>
              </a:defRPr>
            </a:pPr>
            <a:r>
              <a:t>Consultations &amp; Avg Rating by Hour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gradFill>
              <a:gsLst>
                <a:gs pos="0">
                  <a:srgbClr val="34D3EE"/>
                </a:gs>
                <a:gs pos="100000">
                  <a:srgbClr val="7C5CFC"/>
                </a:gs>
              </a:gsLst>
              <a:lin ang="5400000" scaled="1"/>
            </a:gradFill>
          </c:spPr>
          <c:invertIfNegative val="1"/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226</c:v>
                </c:pt>
                <c:pt idx="1">
                  <c:v>304</c:v>
                </c:pt>
                <c:pt idx="2">
                  <c:v>560</c:v>
                </c:pt>
                <c:pt idx="3">
                  <c:v>856</c:v>
                </c:pt>
                <c:pt idx="4">
                  <c:v>1153</c:v>
                </c:pt>
                <c:pt idx="5">
                  <c:v>1438</c:v>
                </c:pt>
                <c:pt idx="6">
                  <c:v>1855</c:v>
                </c:pt>
                <c:pt idx="7">
                  <c:v>1664</c:v>
                </c:pt>
                <c:pt idx="8">
                  <c:v>1875</c:v>
                </c:pt>
                <c:pt idx="9">
                  <c:v>1673</c:v>
                </c:pt>
                <c:pt idx="10">
                  <c:v>1704</c:v>
                </c:pt>
                <c:pt idx="11">
                  <c:v>1472</c:v>
                </c:pt>
                <c:pt idx="12">
                  <c:v>1591</c:v>
                </c:pt>
                <c:pt idx="13">
                  <c:v>1574</c:v>
                </c:pt>
                <c:pt idx="14">
                  <c:v>1673</c:v>
                </c:pt>
                <c:pt idx="15">
                  <c:v>1747</c:v>
                </c:pt>
                <c:pt idx="16">
                  <c:v>1773</c:v>
                </c:pt>
                <c:pt idx="17">
                  <c:v>1443</c:v>
                </c:pt>
                <c:pt idx="18">
                  <c:v>1099</c:v>
                </c:pt>
                <c:pt idx="19">
                  <c:v>912</c:v>
                </c:pt>
                <c:pt idx="20">
                  <c:v>553</c:v>
                </c:pt>
                <c:pt idx="21">
                  <c:v>347</c:v>
                </c:pt>
                <c:pt idx="22">
                  <c:v>268</c:v>
                </c:pt>
                <c:pt idx="23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5A-479F-9DED-4AE66F8A3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rating (0–10)</c:v>
                </c:pt>
              </c:strCache>
            </c:strRef>
          </c:tx>
          <c:spPr>
            <a:ln w="31750">
              <a:solidFill>
                <a:srgbClr val="F5B841"/>
              </a:solidFill>
            </a:ln>
          </c:spPr>
          <c:marker>
            <c:symbol val="circle"/>
            <c:size val="6"/>
            <c:spPr>
              <a:solidFill>
                <a:srgbClr val="F5B841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1.7609999999999999</c:v>
                </c:pt>
                <c:pt idx="1">
                  <c:v>1.829</c:v>
                </c:pt>
                <c:pt idx="2">
                  <c:v>2.3039999999999998</c:v>
                </c:pt>
                <c:pt idx="3">
                  <c:v>2.5350000000000001</c:v>
                </c:pt>
                <c:pt idx="4">
                  <c:v>2.9079999999999999</c:v>
                </c:pt>
                <c:pt idx="5">
                  <c:v>2.911</c:v>
                </c:pt>
                <c:pt idx="6">
                  <c:v>2.927</c:v>
                </c:pt>
                <c:pt idx="7">
                  <c:v>3.3420000000000001</c:v>
                </c:pt>
                <c:pt idx="8">
                  <c:v>3.339</c:v>
                </c:pt>
                <c:pt idx="9">
                  <c:v>3.2829999999999999</c:v>
                </c:pt>
                <c:pt idx="10">
                  <c:v>3.202</c:v>
                </c:pt>
                <c:pt idx="11">
                  <c:v>3.093</c:v>
                </c:pt>
                <c:pt idx="12">
                  <c:v>3.0150000000000001</c:v>
                </c:pt>
                <c:pt idx="13">
                  <c:v>3.18</c:v>
                </c:pt>
                <c:pt idx="14">
                  <c:v>3.23</c:v>
                </c:pt>
                <c:pt idx="15">
                  <c:v>3.0350000000000001</c:v>
                </c:pt>
                <c:pt idx="16">
                  <c:v>2.8620000000000001</c:v>
                </c:pt>
                <c:pt idx="17">
                  <c:v>2.8540000000000001</c:v>
                </c:pt>
                <c:pt idx="18">
                  <c:v>2.407</c:v>
                </c:pt>
                <c:pt idx="19">
                  <c:v>2.4300000000000002</c:v>
                </c:pt>
                <c:pt idx="20">
                  <c:v>2.1030000000000002</c:v>
                </c:pt>
                <c:pt idx="21">
                  <c:v>1.7030000000000001</c:v>
                </c:pt>
                <c:pt idx="22">
                  <c:v>2.0630000000000002</c:v>
                </c:pt>
                <c:pt idx="23">
                  <c:v>2.528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C5A-479F-9DED-4AE66F8A3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1111111"/>
        <c:axId val="77222222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800" b="0">
                <a:solidFill>
                  <a:srgbClr val="9AA0B8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catAx>
        <c:axId val="7711111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772222222"/>
        <c:crosses val="autoZero"/>
        <c:auto val="1"/>
        <c:lblAlgn val="ctr"/>
        <c:lblOffset val="100"/>
        <c:noMultiLvlLbl val="1"/>
      </c:catAx>
      <c:valAx>
        <c:axId val="772222222"/>
        <c:scaling>
          <c:orientation val="minMax"/>
          <c:max val="4"/>
          <c:min val="0"/>
        </c:scaling>
        <c:delete val="0"/>
        <c:axPos val="r"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B4831F"/>
                </a:solidFill>
                <a:latin typeface="Segoe UI"/>
              </a:defRPr>
            </a:pPr>
            <a:endParaRPr lang="en-US"/>
          </a:p>
        </c:txPr>
        <c:crossAx val="771111111"/>
        <c:crosses val="max"/>
        <c:crossBetween val="between"/>
      </c:valAx>
      <c:valAx>
        <c:axId val="-2113994440"/>
        <c:scaling>
          <c:orientation val="minMax"/>
          <c:max val="2000"/>
          <c:min val="0"/>
        </c:scaling>
        <c:delete val="0"/>
        <c:axPos val="l"/>
        <c:majorGridlines>
          <c:spPr>
            <a:ln w="6350">
              <a:solidFill>
                <a:srgbClr val="EEF0F7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 b="0">
                <a:solidFill>
                  <a:srgbClr val="9AA0B8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94063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B213D"/>
                </a:solidFill>
                <a:latin typeface="Segoe UI Semibold"/>
              </a:defRPr>
            </a:pPr>
            <a:r>
              <a:t>Net Revenue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1-E39F-4EA2-89FB-D6DAFD33F9C7}"/>
              </c:ext>
            </c:extLst>
          </c:dPt>
          <c:dPt>
            <c:idx val="1"/>
            <c:invertIfNegative val="1"/>
            <c:bubble3D val="0"/>
            <c:spPr>
              <a:solidFill>
                <a:srgbClr val="34D3EE"/>
              </a:solidFill>
            </c:spPr>
            <c:extLst>
              <c:ext xmlns:c16="http://schemas.microsoft.com/office/drawing/2014/chart" uri="{C3380CC4-5D6E-409C-BE32-E72D297353CC}">
                <c16:uniqueId val="{00000003-E39F-4EA2-89FB-D6DAFD33F9C7}"/>
              </c:ext>
            </c:extLst>
          </c:dPt>
          <c:dLbls>
            <c:numFmt formatCode="&quot;₹&quot;0.00&quot; 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Call</c:v>
                </c:pt>
                <c:pt idx="1">
                  <c:v>Chat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1.6844204</c:v>
                </c:pt>
                <c:pt idx="1">
                  <c:v>0.45494679999999998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9F-4EA2-89FB-D6DAFD33F9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30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B213D"/>
                </a:solidFill>
                <a:latin typeface="Segoe UI Semibold"/>
              </a:defRPr>
            </a:pPr>
            <a:r>
              <a:t>Consultations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1-B212-4743-AC8C-D2B51F428145}"/>
              </c:ext>
            </c:extLst>
          </c:dPt>
          <c:dPt>
            <c:idx val="1"/>
            <c:invertIfNegative val="1"/>
            <c:bubble3D val="0"/>
            <c:spPr>
              <a:solidFill>
                <a:srgbClr val="34D3EE"/>
              </a:solidFill>
            </c:spPr>
            <c:extLst>
              <c:ext xmlns:c16="http://schemas.microsoft.com/office/drawing/2014/chart" uri="{C3380CC4-5D6E-409C-BE32-E72D297353CC}">
                <c16:uniqueId val="{00000003-B212-4743-AC8C-D2B51F428145}"/>
              </c:ext>
            </c:extLst>
          </c:dPt>
          <c:dLbls>
            <c:numFmt formatCode="0.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App</c:v>
                </c:pt>
                <c:pt idx="1">
                  <c:v>Gurucool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7800</c:v>
                </c:pt>
                <c:pt idx="1">
                  <c:v>20225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12-4743-AC8C-D2B51F4281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05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B213D"/>
                </a:solidFill>
                <a:latin typeface="Segoe UI Semibold"/>
              </a:defRPr>
            </a:pPr>
            <a:r>
              <a:t>Net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1-5220-4116-9879-59AF8DD73BD9}"/>
              </c:ext>
            </c:extLst>
          </c:dPt>
          <c:dPt>
            <c:idx val="1"/>
            <c:invertIfNegative val="1"/>
            <c:bubble3D val="0"/>
            <c:spPr>
              <a:solidFill>
                <a:srgbClr val="34D3EE"/>
              </a:solidFill>
            </c:spPr>
            <c:extLst>
              <c:ext xmlns:c16="http://schemas.microsoft.com/office/drawing/2014/chart" uri="{C3380CC4-5D6E-409C-BE32-E72D297353CC}">
                <c16:uniqueId val="{00000003-5220-4116-9879-59AF8DD73BD9}"/>
              </c:ext>
            </c:extLst>
          </c:dPt>
          <c:dLbls>
            <c:numFmt formatCode="&quot;₹&quot;0.00&quot;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App</c:v>
                </c:pt>
                <c:pt idx="1">
                  <c:v>Gurucool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1.2526737999999999</c:v>
                </c:pt>
                <c:pt idx="1">
                  <c:v>0.88719929999999991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20-4116-9879-59AF8DD73B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05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B213D"/>
                </a:solidFill>
                <a:latin typeface="Segoe UI Semibold"/>
              </a:defRPr>
            </a:pPr>
            <a:r>
              <a:t>Avg Rating (0–10)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 (0–10)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1-C06D-434E-873A-7A1E94C61012}"/>
              </c:ext>
            </c:extLst>
          </c:dPt>
          <c:dPt>
            <c:idx val="1"/>
            <c:invertIfNegative val="1"/>
            <c:bubble3D val="0"/>
            <c:spPr>
              <a:solidFill>
                <a:srgbClr val="34D3EE"/>
              </a:solidFill>
            </c:spPr>
            <c:extLst>
              <c:ext xmlns:c16="http://schemas.microsoft.com/office/drawing/2014/chart" uri="{C3380CC4-5D6E-409C-BE32-E72D297353CC}">
                <c16:uniqueId val="{00000003-C06D-434E-873A-7A1E94C6101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App</c:v>
                </c:pt>
                <c:pt idx="1">
                  <c:v>Gurucool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3.5</c:v>
                </c:pt>
                <c:pt idx="1">
                  <c:v>2.7160000000000002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6D-434E-873A-7A1E94C610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05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B213D"/>
                </a:solidFill>
                <a:latin typeface="Segoe UI Semibold"/>
              </a:defRPr>
            </a:pPr>
            <a:r>
              <a:t>₹ per Consultation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₹ per Consultation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1-9992-44E4-988A-3B08BF369158}"/>
              </c:ext>
            </c:extLst>
          </c:dPt>
          <c:dPt>
            <c:idx val="1"/>
            <c:invertIfNegative val="1"/>
            <c:bubble3D val="0"/>
            <c:spPr>
              <a:solidFill>
                <a:srgbClr val="34D3EE"/>
              </a:solidFill>
            </c:spPr>
            <c:extLst>
              <c:ext xmlns:c16="http://schemas.microsoft.com/office/drawing/2014/chart" uri="{C3380CC4-5D6E-409C-BE32-E72D297353CC}">
                <c16:uniqueId val="{00000003-9992-44E4-988A-3B08BF369158}"/>
              </c:ext>
            </c:extLst>
          </c:dPt>
          <c:dLbls>
            <c:numFmt formatCode="&quot;₹&quot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App</c:v>
                </c:pt>
                <c:pt idx="1">
                  <c:v>Gurucool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16.059920512820515</c:v>
                </c:pt>
                <c:pt idx="1">
                  <c:v>4.3866467243510501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992-44E4-988A-3B08BF3691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05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1">
                <a:solidFill>
                  <a:srgbClr val="1B213D"/>
                </a:solidFill>
                <a:latin typeface="Segoe UI Semibold"/>
              </a:defRPr>
            </a:pPr>
            <a:r>
              <a:t>Repeat vs One-time Volume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dPt>
            <c:idx val="0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1-05A7-48E5-AAA8-5E158554E521}"/>
              </c:ext>
            </c:extLst>
          </c:dPt>
          <c:dPt>
            <c:idx val="1"/>
            <c:bubble3D val="0"/>
            <c:spPr>
              <a:solidFill>
                <a:srgbClr val="D9DCEC"/>
              </a:solidFill>
            </c:spPr>
            <c:extLst>
              <c:ext xmlns:c16="http://schemas.microsoft.com/office/drawing/2014/chart" uri="{C3380CC4-5D6E-409C-BE32-E72D297353CC}">
                <c16:uniqueId val="{00000003-05A7-48E5-AAA8-5E158554E52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Repeat callers</c:v>
                </c:pt>
                <c:pt idx="1">
                  <c:v>One-time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22745</c:v>
                </c:pt>
                <c:pt idx="1">
                  <c:v>5282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A7-48E5-AAA8-5E158554E52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000">
              <a:solidFill>
                <a:srgbClr val="394063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>
                <a:solidFill>
                  <a:srgbClr val="1B213D"/>
                </a:solidFill>
                <a:latin typeface="Segoe UI Semibold"/>
              </a:defRPr>
            </a:pPr>
            <a:r>
              <a:t>Top Customers by Consultations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gradFill>
              <a:gsLst>
                <a:gs pos="0">
                  <a:srgbClr val="34D3EE"/>
                </a:gs>
                <a:gs pos="100000">
                  <a:srgbClr val="7C5CFC"/>
                </a:gs>
              </a:gsLst>
              <a:lin ang="0" scaled="1"/>
            </a:gra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#43128</c:v>
                </c:pt>
                <c:pt idx="1">
                  <c:v>#11239</c:v>
                </c:pt>
                <c:pt idx="2">
                  <c:v>#30539</c:v>
                </c:pt>
                <c:pt idx="3">
                  <c:v>#28285</c:v>
                </c:pt>
                <c:pt idx="4">
                  <c:v>#33832</c:v>
                </c:pt>
                <c:pt idx="5">
                  <c:v>#28098</c:v>
                </c:pt>
                <c:pt idx="6">
                  <c:v>#30542</c:v>
                </c:pt>
                <c:pt idx="7">
                  <c:v>#33017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81</c:v>
                </c:pt>
                <c:pt idx="2">
                  <c:v>89</c:v>
                </c:pt>
                <c:pt idx="3">
                  <c:v>96</c:v>
                </c:pt>
                <c:pt idx="4">
                  <c:v>115</c:v>
                </c:pt>
                <c:pt idx="5">
                  <c:v>124</c:v>
                </c:pt>
                <c:pt idx="6">
                  <c:v>140</c:v>
                </c:pt>
                <c:pt idx="7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85-49BA-A8F7-B7C0EB1481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000" b="0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75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>
                <a:solidFill>
                  <a:srgbClr val="1B213D"/>
                </a:solidFill>
                <a:latin typeface="Segoe UI Semibold"/>
              </a:defRPr>
            </a:pPr>
            <a:r>
              <a:t>Rating Distribution  (0 = not rated / failed · 1–3 low · 4–5 mid · 6–8 high)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AEB6D0"/>
              </a:solidFill>
            </c:spPr>
            <c:extLst>
              <c:ext xmlns:c16="http://schemas.microsoft.com/office/drawing/2014/chart" uri="{C3380CC4-5D6E-409C-BE32-E72D297353CC}">
                <c16:uniqueId val="{00000001-643B-4210-AEEA-661CBFE3C55B}"/>
              </c:ext>
            </c:extLst>
          </c:dPt>
          <c:dPt>
            <c:idx val="1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3-643B-4210-AEEA-661CBFE3C55B}"/>
              </c:ext>
            </c:extLst>
          </c:dPt>
          <c:dPt>
            <c:idx val="2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5-643B-4210-AEEA-661CBFE3C55B}"/>
              </c:ext>
            </c:extLst>
          </c:dPt>
          <c:dPt>
            <c:idx val="3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7-643B-4210-AEEA-661CBFE3C55B}"/>
              </c:ext>
            </c:extLst>
          </c:dPt>
          <c:dPt>
            <c:idx val="4"/>
            <c:invertIfNegative val="1"/>
            <c:bubble3D val="0"/>
            <c:spPr>
              <a:solidFill>
                <a:srgbClr val="F5B841"/>
              </a:solidFill>
            </c:spPr>
            <c:extLst>
              <c:ext xmlns:c16="http://schemas.microsoft.com/office/drawing/2014/chart" uri="{C3380CC4-5D6E-409C-BE32-E72D297353CC}">
                <c16:uniqueId val="{00000009-643B-4210-AEEA-661CBFE3C55B}"/>
              </c:ext>
            </c:extLst>
          </c:dPt>
          <c:dPt>
            <c:idx val="5"/>
            <c:invertIfNegative val="1"/>
            <c:bubble3D val="0"/>
            <c:spPr>
              <a:solidFill>
                <a:srgbClr val="F5B841"/>
              </a:solidFill>
            </c:spPr>
            <c:extLst>
              <c:ext xmlns:c16="http://schemas.microsoft.com/office/drawing/2014/chart" uri="{C3380CC4-5D6E-409C-BE32-E72D297353CC}">
                <c16:uniqueId val="{0000000B-643B-4210-AEEA-661CBFE3C55B}"/>
              </c:ext>
            </c:extLst>
          </c:dPt>
          <c:dPt>
            <c:idx val="6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0D-643B-4210-AEEA-661CBFE3C55B}"/>
              </c:ext>
            </c:extLst>
          </c:dPt>
          <c:dPt>
            <c:idx val="7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0F-643B-4210-AEEA-661CBFE3C55B}"/>
              </c:ext>
            </c:extLst>
          </c:dPt>
          <c:dPt>
            <c:idx val="8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11-643B-4210-AEEA-661CBFE3C5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43B-4210-AEEA-661CBFE3C5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10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6350">
              <a:solidFill>
                <a:srgbClr val="EEF0F7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 b="0">
                <a:solidFill>
                  <a:srgbClr val="9AA0B8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50" b="1">
                <a:solidFill>
                  <a:srgbClr val="1B213D"/>
                </a:solidFill>
                <a:latin typeface="Segoe UI Semibold"/>
              </a:defRPr>
            </a:pPr>
            <a:r>
              <a:t>Avg Rating by Call Duration (minutes)   ·   r ≈ 0.53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1-A343-4A81-B34A-EE53FC77FF3D}"/>
              </c:ext>
            </c:extLst>
          </c:dPt>
          <c:dPt>
            <c:idx val="1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3-A343-4A81-B34A-EE53FC77FF3D}"/>
              </c:ext>
            </c:extLst>
          </c:dPt>
          <c:dPt>
            <c:idx val="2"/>
            <c:invertIfNegative val="1"/>
            <c:bubble3D val="0"/>
            <c:spPr>
              <a:solidFill>
                <a:srgbClr val="F5B841"/>
              </a:solidFill>
            </c:spPr>
            <c:extLst>
              <c:ext xmlns:c16="http://schemas.microsoft.com/office/drawing/2014/chart" uri="{C3380CC4-5D6E-409C-BE32-E72D297353CC}">
                <c16:uniqueId val="{00000005-A343-4A81-B34A-EE53FC77FF3D}"/>
              </c:ext>
            </c:extLst>
          </c:dPt>
          <c:dPt>
            <c:idx val="3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07-A343-4A81-B34A-EE53FC77FF3D}"/>
              </c:ext>
            </c:extLst>
          </c:dPt>
          <c:dPt>
            <c:idx val="4"/>
            <c:invertIfNegative val="1"/>
            <c:bubble3D val="0"/>
            <c:spPr>
              <a:solidFill>
                <a:srgbClr val="34D3EE"/>
              </a:solidFill>
            </c:spPr>
            <c:extLst>
              <c:ext xmlns:c16="http://schemas.microsoft.com/office/drawing/2014/chart" uri="{C3380CC4-5D6E-409C-BE32-E72D297353CC}">
                <c16:uniqueId val="{00000009-A343-4A81-B34A-EE53FC77FF3D}"/>
              </c:ext>
            </c:extLst>
          </c:dPt>
          <c:dPt>
            <c:idx val="5"/>
            <c:invertIfNegative val="1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B-A343-4A81-B34A-EE53FC77FF3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 min</c:v>
                </c:pt>
                <c:pt idx="1">
                  <c:v>0–1</c:v>
                </c:pt>
                <c:pt idx="2">
                  <c:v>1–3</c:v>
                </c:pt>
                <c:pt idx="3">
                  <c:v>3–5</c:v>
                </c:pt>
                <c:pt idx="4">
                  <c:v>5–10</c:v>
                </c:pt>
                <c:pt idx="5">
                  <c:v>10+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1.42</c:v>
                </c:pt>
                <c:pt idx="1">
                  <c:v>2.14</c:v>
                </c:pt>
                <c:pt idx="2">
                  <c:v>4.4800000000000004</c:v>
                </c:pt>
                <c:pt idx="3">
                  <c:v>6.68</c:v>
                </c:pt>
                <c:pt idx="4">
                  <c:v>6.09</c:v>
                </c:pt>
                <c:pt idx="5">
                  <c:v>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343-4A81-B34A-EE53FC77FF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15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  <c:min val="0"/>
        </c:scaling>
        <c:delete val="0"/>
        <c:axPos val="l"/>
        <c:majorGridlines>
          <c:spPr>
            <a:ln w="6350">
              <a:solidFill>
                <a:srgbClr val="EEF0F7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 b="0">
                <a:solidFill>
                  <a:srgbClr val="9AA0B8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50" b="1">
                <a:solidFill>
                  <a:srgbClr val="1B213D"/>
                </a:solidFill>
                <a:latin typeface="Segoe UI Semibold"/>
              </a:defRPr>
            </a:pPr>
            <a:r>
              <a:t>Top 10 Agents by Consultation Volume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gradFill>
              <a:gsLst>
                <a:gs pos="0">
                  <a:srgbClr val="34D3EE"/>
                </a:gs>
                <a:gs pos="100000">
                  <a:srgbClr val="7C5CFC"/>
                </a:gs>
              </a:gsLst>
              <a:lin ang="0" scaled="1"/>
            </a:gra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Astro Yogendra</c:v>
                </c:pt>
                <c:pt idx="1">
                  <c:v>Tarot Bee Riya</c:v>
                </c:pt>
                <c:pt idx="2">
                  <c:v>Astro Sonam S</c:v>
                </c:pt>
                <c:pt idx="3">
                  <c:v>Astro Ruchi</c:v>
                </c:pt>
                <c:pt idx="4">
                  <c:v>Tarot Gurpreet</c:v>
                </c:pt>
                <c:pt idx="5">
                  <c:v>Astro Divya</c:v>
                </c:pt>
                <c:pt idx="6">
                  <c:v>Astro Brejesh</c:v>
                </c:pt>
                <c:pt idx="7">
                  <c:v>Astro Shalini</c:v>
                </c:pt>
                <c:pt idx="8">
                  <c:v>Astro Sakthi</c:v>
                </c:pt>
                <c:pt idx="9">
                  <c:v>Astro Krishaa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735</c:v>
                </c:pt>
                <c:pt idx="1">
                  <c:v>743</c:v>
                </c:pt>
                <c:pt idx="2">
                  <c:v>752</c:v>
                </c:pt>
                <c:pt idx="3">
                  <c:v>777</c:v>
                </c:pt>
                <c:pt idx="4">
                  <c:v>1000</c:v>
                </c:pt>
                <c:pt idx="5">
                  <c:v>1056</c:v>
                </c:pt>
                <c:pt idx="6">
                  <c:v>1070</c:v>
                </c:pt>
                <c:pt idx="7">
                  <c:v>1321</c:v>
                </c:pt>
                <c:pt idx="8">
                  <c:v>1450</c:v>
                </c:pt>
                <c:pt idx="9">
                  <c:v>1580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56-4C83-AB32-B5D63E37DE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100" b="0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75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>
                <a:solidFill>
                  <a:srgbClr val="1B213D"/>
                </a:solidFill>
                <a:latin typeface="Segoe UI Semibold"/>
              </a:defRPr>
            </a:pPr>
            <a:r>
              <a:t>Guru Quality — Worst 5 vs Best 5  (avg rating, ≥50 consults)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1-D97F-4439-BEEE-5D09D5275B3C}"/>
              </c:ext>
            </c:extLst>
          </c:dPt>
          <c:dPt>
            <c:idx val="1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3-D97F-4439-BEEE-5D09D5275B3C}"/>
              </c:ext>
            </c:extLst>
          </c:dPt>
          <c:dPt>
            <c:idx val="2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5-D97F-4439-BEEE-5D09D5275B3C}"/>
              </c:ext>
            </c:extLst>
          </c:dPt>
          <c:dPt>
            <c:idx val="3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7-D97F-4439-BEEE-5D09D5275B3C}"/>
              </c:ext>
            </c:extLst>
          </c:dPt>
          <c:dPt>
            <c:idx val="4"/>
            <c:invertIfNegative val="1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9-D97F-4439-BEEE-5D09D5275B3C}"/>
              </c:ext>
            </c:extLst>
          </c:dPt>
          <c:dPt>
            <c:idx val="5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0B-D97F-4439-BEEE-5D09D5275B3C}"/>
              </c:ext>
            </c:extLst>
          </c:dPt>
          <c:dPt>
            <c:idx val="6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0D-D97F-4439-BEEE-5D09D5275B3C}"/>
              </c:ext>
            </c:extLst>
          </c:dPt>
          <c:dPt>
            <c:idx val="7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0F-D97F-4439-BEEE-5D09D5275B3C}"/>
              </c:ext>
            </c:extLst>
          </c:dPt>
          <c:dPt>
            <c:idx val="8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11-D97F-4439-BEEE-5D09D5275B3C}"/>
              </c:ext>
            </c:extLst>
          </c:dPt>
          <c:dPt>
            <c:idx val="9"/>
            <c:invertIfNegative val="1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13-D97F-4439-BEEE-5D09D5275B3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B213D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Astro K Ojha</c:v>
                </c:pt>
                <c:pt idx="1">
                  <c:v>Acharya Divyansh</c:v>
                </c:pt>
                <c:pt idx="2">
                  <c:v>Tarot Punam</c:v>
                </c:pt>
                <c:pt idx="3">
                  <c:v>Astro chandan</c:v>
                </c:pt>
                <c:pt idx="4">
                  <c:v>Astro Yogendra</c:v>
                </c:pt>
                <c:pt idx="5">
                  <c:v>Tarot Srishti</c:v>
                </c:pt>
                <c:pt idx="6">
                  <c:v>Vandana Bhutani</c:v>
                </c:pt>
                <c:pt idx="7">
                  <c:v>Astro Trisha</c:v>
                </c:pt>
                <c:pt idx="8">
                  <c:v>Tarot Diva Poonam</c:v>
                </c:pt>
                <c:pt idx="9">
                  <c:v>Daljit Kaur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</c:v>
                </c:pt>
                <c:pt idx="1">
                  <c:v>0.39</c:v>
                </c:pt>
                <c:pt idx="2">
                  <c:v>0.86</c:v>
                </c:pt>
                <c:pt idx="3">
                  <c:v>0.96</c:v>
                </c:pt>
                <c:pt idx="4">
                  <c:v>1.01</c:v>
                </c:pt>
                <c:pt idx="5">
                  <c:v>4.87</c:v>
                </c:pt>
                <c:pt idx="6">
                  <c:v>4.96</c:v>
                </c:pt>
                <c:pt idx="7">
                  <c:v>5.42</c:v>
                </c:pt>
                <c:pt idx="8">
                  <c:v>5.46</c:v>
                </c:pt>
                <c:pt idx="9">
                  <c:v>5.95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97F-4439-BEEE-5D09D5275B3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050" b="0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.6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B213D"/>
                </a:solidFill>
                <a:latin typeface="Segoe UI Semibold"/>
              </a:defRPr>
            </a:pPr>
            <a:r>
              <a:t>Consultations &amp; Avg Rating by Weekday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gradFill>
              <a:gsLst>
                <a:gs pos="0">
                  <a:srgbClr val="7C5CFC"/>
                </a:gs>
                <a:gs pos="100000">
                  <a:srgbClr val="34D3EE"/>
                </a:gs>
              </a:gsLst>
              <a:lin ang="5400000" scaled="1"/>
            </a:gradFill>
          </c:spPr>
          <c:invertIfNegative val="1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4010</c:v>
                </c:pt>
                <c:pt idx="1">
                  <c:v>3969</c:v>
                </c:pt>
                <c:pt idx="2">
                  <c:v>3367</c:v>
                </c:pt>
                <c:pt idx="3">
                  <c:v>3341</c:v>
                </c:pt>
                <c:pt idx="4">
                  <c:v>4515</c:v>
                </c:pt>
                <c:pt idx="5">
                  <c:v>4233</c:v>
                </c:pt>
                <c:pt idx="6">
                  <c:v>4592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21-414D-97E0-93F5CEE3B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rating (0–10)</c:v>
                </c:pt>
              </c:strCache>
            </c:strRef>
          </c:tx>
          <c:spPr>
            <a:ln w="31750">
              <a:solidFill>
                <a:srgbClr val="F5B841"/>
              </a:solidFill>
            </a:ln>
          </c:spPr>
          <c:marker>
            <c:symbol val="circle"/>
            <c:size val="7"/>
            <c:spPr>
              <a:solidFill>
                <a:srgbClr val="F5B841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3.081</c:v>
                </c:pt>
                <c:pt idx="1">
                  <c:v>3.1760000000000002</c:v>
                </c:pt>
                <c:pt idx="2">
                  <c:v>3.0089999999999999</c:v>
                </c:pt>
                <c:pt idx="3">
                  <c:v>2.8889999999999998</c:v>
                </c:pt>
                <c:pt idx="4">
                  <c:v>2.9140000000000001</c:v>
                </c:pt>
                <c:pt idx="5">
                  <c:v>2.8069999999999999</c:v>
                </c:pt>
                <c:pt idx="6">
                  <c:v>2.7149999999999999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321-414D-97E0-93F5CEE3B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1111111"/>
        <c:axId val="77222222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>
            <a:solidFill>
              <a:srgbClr val="D8DCEB"/>
            </a:solidFill>
          </a:ln>
        </c:spPr>
        <c:txPr>
          <a:bodyPr/>
          <a:lstStyle/>
          <a:p>
            <a:pPr>
              <a:defRPr sz="1200" b="1">
                <a:solidFill>
                  <a:srgbClr val="394063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catAx>
        <c:axId val="7711111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772222222"/>
        <c:crosses val="autoZero"/>
        <c:auto val="1"/>
        <c:lblAlgn val="ctr"/>
        <c:lblOffset val="100"/>
        <c:noMultiLvlLbl val="1"/>
      </c:catAx>
      <c:valAx>
        <c:axId val="772222222"/>
        <c:scaling>
          <c:orientation val="minMax"/>
          <c:max val="4"/>
          <c:min val="0"/>
        </c:scaling>
        <c:delete val="0"/>
        <c:axPos val="r"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B4831F"/>
                </a:solidFill>
                <a:latin typeface="Segoe UI"/>
              </a:defRPr>
            </a:pPr>
            <a:endParaRPr lang="en-US"/>
          </a:p>
        </c:txPr>
        <c:crossAx val="771111111"/>
        <c:crosses val="max"/>
        <c:crossBetween val="between"/>
      </c:valAx>
      <c:valAx>
        <c:axId val="-2113994440"/>
        <c:scaling>
          <c:orientation val="minMax"/>
          <c:max val="5000"/>
          <c:min val="0"/>
        </c:scaling>
        <c:delete val="0"/>
        <c:axPos val="l"/>
        <c:majorGridlines>
          <c:spPr>
            <a:ln w="6350">
              <a:solidFill>
                <a:srgbClr val="EEF0F7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 b="0">
                <a:solidFill>
                  <a:srgbClr val="9AA0B8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94063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bubble3D val="0"/>
            <c:spPr>
              <a:solidFill>
                <a:srgbClr val="F5B841"/>
              </a:solidFill>
            </c:spPr>
            <c:extLst>
              <c:ext xmlns:c16="http://schemas.microsoft.com/office/drawing/2014/chart" uri="{C3380CC4-5D6E-409C-BE32-E72D297353CC}">
                <c16:uniqueId val="{00000001-615A-45F6-97BA-C0A15A3C81B0}"/>
              </c:ext>
            </c:extLst>
          </c:dPt>
          <c:dPt>
            <c:idx val="1"/>
            <c:bubble3D val="0"/>
            <c:spPr>
              <a:solidFill>
                <a:srgbClr val="E056A0"/>
              </a:solidFill>
            </c:spPr>
            <c:extLst>
              <c:ext xmlns:c16="http://schemas.microsoft.com/office/drawing/2014/chart" uri="{C3380CC4-5D6E-409C-BE32-E72D297353CC}">
                <c16:uniqueId val="{00000003-615A-45F6-97BA-C0A15A3C81B0}"/>
              </c:ext>
            </c:extLst>
          </c:dPt>
          <c:dPt>
            <c:idx val="2"/>
            <c:bubble3D val="0"/>
            <c:spPr>
              <a:solidFill>
                <a:srgbClr val="7C5CFC"/>
              </a:solidFill>
            </c:spPr>
            <c:extLst>
              <c:ext xmlns:c16="http://schemas.microsoft.com/office/drawing/2014/chart" uri="{C3380CC4-5D6E-409C-BE32-E72D297353CC}">
                <c16:uniqueId val="{00000005-615A-45F6-97BA-C0A15A3C81B0}"/>
              </c:ext>
            </c:extLst>
          </c:dPt>
          <c:dPt>
            <c:idx val="3"/>
            <c:bubble3D val="0"/>
            <c:spPr>
              <a:solidFill>
                <a:srgbClr val="34D3EE"/>
              </a:solidFill>
            </c:spPr>
            <c:extLst>
              <c:ext xmlns:c16="http://schemas.microsoft.com/office/drawing/2014/chart" uri="{C3380CC4-5D6E-409C-BE32-E72D297353CC}">
                <c16:uniqueId val="{00000007-615A-45F6-97BA-C0A15A3C81B0}"/>
              </c:ext>
            </c:extLst>
          </c:dPt>
          <c:dPt>
            <c:idx val="4"/>
            <c:bubble3D val="0"/>
            <c:spPr>
              <a:solidFill>
                <a:srgbClr val="2FC58A"/>
              </a:solidFill>
            </c:spPr>
            <c:extLst>
              <c:ext xmlns:c16="http://schemas.microsoft.com/office/drawing/2014/chart" uri="{C3380CC4-5D6E-409C-BE32-E72D297353CC}">
                <c16:uniqueId val="{00000009-615A-45F6-97BA-C0A15A3C81B0}"/>
              </c:ext>
            </c:extLst>
          </c:dPt>
          <c:dLbls>
            <c:numFmt formatCode="&quot;₹&quot;0&quot;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1">
                    <a:solidFill>
                      <a:srgbClr val="FFFFFF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Repeat-caller retention</c:v>
                </c:pt>
                <c:pt idx="2">
                  <c:v>Training &amp; quality</c:v>
                </c:pt>
                <c:pt idx="3">
                  <c:v>Peak &amp; evening staffing</c:v>
                </c:pt>
                <c:pt idx="4">
                  <c:v>Analytics &amp; monitoring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5A-45F6-97BA-C0A15A3C81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318D7-5F1C-4E42-288B-751F6F83838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67BD75-6780-0006-5600-B25468536B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13414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7186" y="0"/>
            <a:ext cx="12386110" cy="6858000"/>
          </a:xfrm>
          <a:prstGeom prst="rect">
            <a:avLst/>
          </a:prstGeom>
          <a:gradFill rotWithShape="1">
            <a:gsLst>
              <a:gs pos="0">
                <a:srgbClr val="0B1026"/>
              </a:gs>
              <a:gs pos="100000">
                <a:srgbClr val="141A3A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769352" y="-1463040"/>
            <a:ext cx="5109398" cy="5029200"/>
          </a:xfrm>
          <a:prstGeom prst="ellipse">
            <a:avLst/>
          </a:prstGeom>
          <a:solidFill>
            <a:srgbClr val="7C5CF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44591" y="3749039"/>
            <a:ext cx="5573889" cy="5486400"/>
          </a:xfrm>
          <a:prstGeom prst="ellipse">
            <a:avLst/>
          </a:prstGeom>
          <a:solidFill>
            <a:srgbClr val="E056A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01405" y="-2011680"/>
            <a:ext cx="4644907" cy="4572000"/>
          </a:xfrm>
          <a:prstGeom prst="ellipse">
            <a:avLst/>
          </a:prstGeom>
          <a:solidFill>
            <a:srgbClr val="34D3E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43329" y="894439"/>
            <a:ext cx="23224" cy="22860"/>
          </a:xfrm>
          <a:prstGeom prst="ellipse">
            <a:avLst/>
          </a:prstGeom>
          <a:solidFill>
            <a:srgbClr val="34D3EE">
              <a:alpha val="323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4460" y="90306"/>
            <a:ext cx="37159" cy="36576"/>
          </a:xfrm>
          <a:prstGeom prst="ellipse">
            <a:avLst/>
          </a:prstGeom>
          <a:solidFill>
            <a:srgbClr val="A78BFA">
              <a:alpha val="231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77777" y="4918201"/>
            <a:ext cx="23224" cy="22860"/>
          </a:xfrm>
          <a:prstGeom prst="ellipse">
            <a:avLst/>
          </a:prstGeom>
          <a:solidFill>
            <a:srgbClr val="34D3EE">
              <a:alpha val="479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21766" y="5904889"/>
            <a:ext cx="27869" cy="27432"/>
          </a:xfrm>
          <a:prstGeom prst="ellipse">
            <a:avLst/>
          </a:prstGeom>
          <a:solidFill>
            <a:srgbClr val="FFFFFF">
              <a:alpha val="392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70314" y="2674186"/>
            <a:ext cx="55738" cy="54864"/>
          </a:xfrm>
          <a:prstGeom prst="ellipse">
            <a:avLst/>
          </a:prstGeom>
          <a:solidFill>
            <a:srgbClr val="FFFFFF">
              <a:alpha val="408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77158" y="6566514"/>
            <a:ext cx="18579" cy="18288"/>
          </a:xfrm>
          <a:prstGeom prst="ellipse">
            <a:avLst/>
          </a:prstGeom>
          <a:solidFill>
            <a:srgbClr val="FFFFFF">
              <a:alpha val="249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103649" y="1847762"/>
            <a:ext cx="18579" cy="18288"/>
          </a:xfrm>
          <a:prstGeom prst="ellipse">
            <a:avLst/>
          </a:prstGeom>
          <a:solidFill>
            <a:srgbClr val="34D3EE">
              <a:alpha val="429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748100" y="6316894"/>
            <a:ext cx="27869" cy="27432"/>
          </a:xfrm>
          <a:prstGeom prst="ellipse">
            <a:avLst/>
          </a:prstGeom>
          <a:solidFill>
            <a:srgbClr val="A78BFA">
              <a:alpha val="433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09939" y="6416253"/>
            <a:ext cx="37159" cy="36576"/>
          </a:xfrm>
          <a:prstGeom prst="ellipse">
            <a:avLst/>
          </a:prstGeom>
          <a:solidFill>
            <a:srgbClr val="FFD36E">
              <a:alpha val="1619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32494" y="1769235"/>
            <a:ext cx="23224" cy="22860"/>
          </a:xfrm>
          <a:prstGeom prst="ellipse">
            <a:avLst/>
          </a:prstGeom>
          <a:solidFill>
            <a:srgbClr val="A78BFA">
              <a:alpha val="454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31357" y="3478672"/>
            <a:ext cx="55738" cy="54864"/>
          </a:xfrm>
          <a:prstGeom prst="ellipse">
            <a:avLst/>
          </a:prstGeom>
          <a:solidFill>
            <a:srgbClr val="A78BFA">
              <a:alpha val="366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49606" y="4006798"/>
            <a:ext cx="37159" cy="36576"/>
          </a:xfrm>
          <a:prstGeom prst="ellipse">
            <a:avLst/>
          </a:prstGeom>
          <a:solidFill>
            <a:srgbClr val="FFD36E">
              <a:alpha val="413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0285" y="6796206"/>
            <a:ext cx="18579" cy="18288"/>
          </a:xfrm>
          <a:prstGeom prst="ellipse">
            <a:avLst/>
          </a:prstGeom>
          <a:solidFill>
            <a:srgbClr val="FFFFFF">
              <a:alpha val="420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850863" y="6204405"/>
            <a:ext cx="27869" cy="27432"/>
          </a:xfrm>
          <a:prstGeom prst="ellipse">
            <a:avLst/>
          </a:prstGeom>
          <a:solidFill>
            <a:srgbClr val="34D3EE">
              <a:alpha val="164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517830" y="5703167"/>
            <a:ext cx="46449" cy="45720"/>
          </a:xfrm>
          <a:prstGeom prst="ellipse">
            <a:avLst/>
          </a:prstGeom>
          <a:solidFill>
            <a:srgbClr val="34D3EE">
              <a:alpha val="234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8843" y="5856337"/>
            <a:ext cx="18579" cy="18288"/>
          </a:xfrm>
          <a:prstGeom prst="ellipse">
            <a:avLst/>
          </a:prstGeom>
          <a:solidFill>
            <a:srgbClr val="A78BFA">
              <a:alpha val="1580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7877" y="6152285"/>
            <a:ext cx="55738" cy="54864"/>
          </a:xfrm>
          <a:prstGeom prst="ellipse">
            <a:avLst/>
          </a:prstGeom>
          <a:solidFill>
            <a:srgbClr val="FFFFFF">
              <a:alpha val="246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45492" y="815534"/>
            <a:ext cx="55738" cy="54864"/>
          </a:xfrm>
          <a:prstGeom prst="ellipse">
            <a:avLst/>
          </a:prstGeom>
          <a:solidFill>
            <a:srgbClr val="34D3EE">
              <a:alpha val="384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82345" y="4021360"/>
            <a:ext cx="18579" cy="18288"/>
          </a:xfrm>
          <a:prstGeom prst="ellipse">
            <a:avLst/>
          </a:prstGeom>
          <a:solidFill>
            <a:srgbClr val="34D3EE">
              <a:alpha val="498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63006" y="6847774"/>
            <a:ext cx="27869" cy="27432"/>
          </a:xfrm>
          <a:prstGeom prst="ellipse">
            <a:avLst/>
          </a:prstGeom>
          <a:solidFill>
            <a:srgbClr val="FFD36E">
              <a:alpha val="1231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31542" y="215188"/>
            <a:ext cx="18579" cy="18288"/>
          </a:xfrm>
          <a:prstGeom prst="ellipse">
            <a:avLst/>
          </a:prstGeom>
          <a:solidFill>
            <a:srgbClr val="FFFFFF">
              <a:alpha val="537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64127" y="1071212"/>
            <a:ext cx="27869" cy="27432"/>
          </a:xfrm>
          <a:prstGeom prst="ellipse">
            <a:avLst/>
          </a:prstGeom>
          <a:solidFill>
            <a:srgbClr val="FFFFFF">
              <a:alpha val="541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789953" y="6574486"/>
            <a:ext cx="27869" cy="27432"/>
          </a:xfrm>
          <a:prstGeom prst="ellipse">
            <a:avLst/>
          </a:prstGeom>
          <a:solidFill>
            <a:srgbClr val="A78BFA">
              <a:alpha val="28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44495" y="4415788"/>
            <a:ext cx="55738" cy="54864"/>
          </a:xfrm>
          <a:prstGeom prst="ellipse">
            <a:avLst/>
          </a:prstGeom>
          <a:solidFill>
            <a:srgbClr val="34D3EE">
              <a:alpha val="412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583764" y="6450780"/>
            <a:ext cx="18579" cy="18288"/>
          </a:xfrm>
          <a:prstGeom prst="ellipse">
            <a:avLst/>
          </a:prstGeom>
          <a:solidFill>
            <a:srgbClr val="34D3EE">
              <a:alpha val="236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24668" y="1629705"/>
            <a:ext cx="46449" cy="45720"/>
          </a:xfrm>
          <a:prstGeom prst="ellipse">
            <a:avLst/>
          </a:prstGeom>
          <a:solidFill>
            <a:srgbClr val="FFD36E">
              <a:alpha val="308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57554" y="3761136"/>
            <a:ext cx="27869" cy="27432"/>
          </a:xfrm>
          <a:prstGeom prst="ellipse">
            <a:avLst/>
          </a:prstGeom>
          <a:solidFill>
            <a:srgbClr val="FFFFFF">
              <a:alpha val="45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802907" y="2582150"/>
            <a:ext cx="37159" cy="36576"/>
          </a:xfrm>
          <a:prstGeom prst="ellipse">
            <a:avLst/>
          </a:prstGeom>
          <a:solidFill>
            <a:srgbClr val="34D3EE">
              <a:alpha val="391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749821" y="2279947"/>
            <a:ext cx="18579" cy="18288"/>
          </a:xfrm>
          <a:prstGeom prst="ellipse">
            <a:avLst/>
          </a:prstGeom>
          <a:solidFill>
            <a:srgbClr val="FFD36E">
              <a:alpha val="412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444269" y="1912863"/>
            <a:ext cx="27869" cy="27432"/>
          </a:xfrm>
          <a:prstGeom prst="ellipse">
            <a:avLst/>
          </a:prstGeom>
          <a:solidFill>
            <a:srgbClr val="A78BFA">
              <a:alpha val="129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729580" y="145750"/>
            <a:ext cx="18579" cy="18288"/>
          </a:xfrm>
          <a:prstGeom prst="ellipse">
            <a:avLst/>
          </a:prstGeom>
          <a:solidFill>
            <a:srgbClr val="FFD36E">
              <a:alpha val="227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01755" y="4124776"/>
            <a:ext cx="27869" cy="27432"/>
          </a:xfrm>
          <a:prstGeom prst="ellipse">
            <a:avLst/>
          </a:prstGeom>
          <a:solidFill>
            <a:srgbClr val="FFFFFF">
              <a:alpha val="276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292812" y="5787061"/>
            <a:ext cx="27869" cy="27432"/>
          </a:xfrm>
          <a:prstGeom prst="ellipse">
            <a:avLst/>
          </a:prstGeom>
          <a:solidFill>
            <a:srgbClr val="FFD36E">
              <a:alpha val="2491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01766" y="5575943"/>
            <a:ext cx="27869" cy="27432"/>
          </a:xfrm>
          <a:prstGeom prst="ellipse">
            <a:avLst/>
          </a:prstGeom>
          <a:solidFill>
            <a:srgbClr val="34D3EE">
              <a:alpha val="41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742715" y="1526164"/>
            <a:ext cx="23224" cy="22860"/>
          </a:xfrm>
          <a:prstGeom prst="ellipse">
            <a:avLst/>
          </a:prstGeom>
          <a:solidFill>
            <a:srgbClr val="FFD36E">
              <a:alpha val="2226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01384" y="4454538"/>
            <a:ext cx="23224" cy="22860"/>
          </a:xfrm>
          <a:prstGeom prst="ellipse">
            <a:avLst/>
          </a:prstGeom>
          <a:solidFill>
            <a:srgbClr val="FFFFFF">
              <a:alpha val="1637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659079" y="4628652"/>
            <a:ext cx="27869" cy="27432"/>
          </a:xfrm>
          <a:prstGeom prst="ellipse">
            <a:avLst/>
          </a:prstGeom>
          <a:solidFill>
            <a:srgbClr val="FFFFFF">
              <a:alpha val="308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802035" y="548285"/>
            <a:ext cx="55738" cy="54864"/>
          </a:xfrm>
          <a:prstGeom prst="ellipse">
            <a:avLst/>
          </a:prstGeom>
          <a:solidFill>
            <a:srgbClr val="FFFFFF">
              <a:alpha val="500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254493" y="5397293"/>
            <a:ext cx="27869" cy="27432"/>
          </a:xfrm>
          <a:prstGeom prst="ellipse">
            <a:avLst/>
          </a:prstGeom>
          <a:solidFill>
            <a:srgbClr val="FFFFFF">
              <a:alpha val="347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806183" y="5734693"/>
            <a:ext cx="23224" cy="22860"/>
          </a:xfrm>
          <a:prstGeom prst="ellipse">
            <a:avLst/>
          </a:prstGeom>
          <a:solidFill>
            <a:srgbClr val="34D3EE">
              <a:alpha val="198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115449" y="5678056"/>
            <a:ext cx="27869" cy="27432"/>
          </a:xfrm>
          <a:prstGeom prst="ellipse">
            <a:avLst/>
          </a:prstGeom>
          <a:solidFill>
            <a:srgbClr val="FFFFFF">
              <a:alpha val="466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204187" y="2889086"/>
            <a:ext cx="27869" cy="27432"/>
          </a:xfrm>
          <a:prstGeom prst="ellipse">
            <a:avLst/>
          </a:prstGeom>
          <a:solidFill>
            <a:srgbClr val="34D3EE">
              <a:alpha val="461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4-Point Star 47"/>
          <p:cNvSpPr/>
          <p:nvPr/>
        </p:nvSpPr>
        <p:spPr>
          <a:xfrm>
            <a:off x="3261610" y="2375297"/>
            <a:ext cx="120767" cy="118872"/>
          </a:xfrm>
          <a:prstGeom prst="star4">
            <a:avLst/>
          </a:prstGeom>
          <a:solidFill>
            <a:srgbClr val="F5B841">
              <a:alpha val="3871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4-Point Star 48"/>
          <p:cNvSpPr/>
          <p:nvPr/>
        </p:nvSpPr>
        <p:spPr>
          <a:xfrm>
            <a:off x="6942239" y="243762"/>
            <a:ext cx="120767" cy="118872"/>
          </a:xfrm>
          <a:prstGeom prst="star4">
            <a:avLst/>
          </a:prstGeom>
          <a:solidFill>
            <a:srgbClr val="F5B841">
              <a:alpha val="3467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4-Point Star 49"/>
          <p:cNvSpPr/>
          <p:nvPr/>
        </p:nvSpPr>
        <p:spPr>
          <a:xfrm>
            <a:off x="-39444" y="6468930"/>
            <a:ext cx="148637" cy="146304"/>
          </a:xfrm>
          <a:prstGeom prst="star4">
            <a:avLst/>
          </a:prstGeom>
          <a:solidFill>
            <a:srgbClr val="F5B841">
              <a:alpha val="596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4-Point Star 50"/>
          <p:cNvSpPr/>
          <p:nvPr/>
        </p:nvSpPr>
        <p:spPr>
          <a:xfrm>
            <a:off x="5282749" y="6516205"/>
            <a:ext cx="148637" cy="146304"/>
          </a:xfrm>
          <a:prstGeom prst="star4">
            <a:avLst/>
          </a:prstGeom>
          <a:solidFill>
            <a:srgbClr val="F5B841">
              <a:alpha val="366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4-Point Star 51"/>
          <p:cNvSpPr/>
          <p:nvPr/>
        </p:nvSpPr>
        <p:spPr>
          <a:xfrm>
            <a:off x="9136944" y="5738079"/>
            <a:ext cx="148637" cy="146304"/>
          </a:xfrm>
          <a:prstGeom prst="star4">
            <a:avLst/>
          </a:prstGeom>
          <a:solidFill>
            <a:srgbClr val="F5B841">
              <a:alpha val="5244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702396" y="905256"/>
            <a:ext cx="2786944" cy="2743200"/>
          </a:xfrm>
          <a:prstGeom prst="ellipse">
            <a:avLst/>
          </a:prstGeom>
          <a:noFill/>
          <a:ln w="12700">
            <a:solidFill>
              <a:srgbClr val="A78BFA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145007" y="356616"/>
            <a:ext cx="3901722" cy="3840480"/>
          </a:xfrm>
          <a:prstGeom prst="ellipse">
            <a:avLst/>
          </a:prstGeom>
          <a:noFill/>
          <a:ln w="12700">
            <a:solidFill>
              <a:srgbClr val="A78BFA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541169" y="-237743"/>
            <a:ext cx="5109398" cy="5029200"/>
          </a:xfrm>
          <a:prstGeom prst="ellipse">
            <a:avLst/>
          </a:prstGeom>
          <a:noFill/>
          <a:ln w="12700">
            <a:solidFill>
              <a:srgbClr val="A78BFA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5-Point Star 55"/>
          <p:cNvSpPr/>
          <p:nvPr/>
        </p:nvSpPr>
        <p:spPr>
          <a:xfrm>
            <a:off x="5891492" y="868680"/>
            <a:ext cx="408751" cy="402336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7304" y="1655064"/>
            <a:ext cx="114543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spc="360">
                <a:solidFill>
                  <a:srgbClr val="FFD36E"/>
                </a:solidFill>
                <a:latin typeface="Segoe UI Semibold"/>
              </a:rPr>
              <a:t>CALL  CENTRE  PERFORMANCE  ANALYSIS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304" y="2093976"/>
            <a:ext cx="1145434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Segoe UI Semibold"/>
              </a:rPr>
              <a:t>ASTROSAGE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59785" y="3337560"/>
            <a:ext cx="1672166" cy="45720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7304" y="3538728"/>
            <a:ext cx="1145434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C9CFE8"/>
                </a:solidFill>
                <a:latin typeface="Segoe UI"/>
              </a:rPr>
              <a:t>Optimising a ₹1 Crore investment for efficiency, satisfaction &amp; profit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9138" y="4453128"/>
            <a:ext cx="2006600" cy="822960"/>
          </a:xfrm>
          <a:prstGeom prst="roundRect">
            <a:avLst>
              <a:gd name="adj" fmla="val 16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9138" y="4544568"/>
            <a:ext cx="2006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D36E"/>
                </a:solidFill>
                <a:latin typeface="Segoe UI Semibold"/>
              </a:rPr>
              <a:t>₹2.14 L</a:t>
            </a:r>
          </a:p>
          <a:p>
            <a:pPr algn="ctr"/>
            <a:r>
              <a:rPr sz="1000" b="0" i="0">
                <a:solidFill>
                  <a:srgbClr val="C9CFE8"/>
                </a:solidFill>
                <a:latin typeface="Segoe UI"/>
              </a:rPr>
              <a:t>Net revenue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25853" y="4453128"/>
            <a:ext cx="2006600" cy="822960"/>
          </a:xfrm>
          <a:prstGeom prst="roundRect">
            <a:avLst>
              <a:gd name="adj" fmla="val 16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25853" y="4544568"/>
            <a:ext cx="2006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D36E"/>
                </a:solidFill>
                <a:latin typeface="Segoe UI Semibold"/>
              </a:rPr>
              <a:t>54%</a:t>
            </a:r>
          </a:p>
          <a:p>
            <a:pPr algn="ctr"/>
            <a:r>
              <a:rPr sz="1000" b="0" i="0">
                <a:solidFill>
                  <a:srgbClr val="C9CFE8"/>
                </a:solidFill>
                <a:latin typeface="Segoe UI"/>
              </a:rPr>
              <a:t>Gross margin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92568" y="4453128"/>
            <a:ext cx="2006600" cy="822960"/>
          </a:xfrm>
          <a:prstGeom prst="roundRect">
            <a:avLst>
              <a:gd name="adj" fmla="val 16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92568" y="4544568"/>
            <a:ext cx="2006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D36E"/>
                </a:solidFill>
                <a:latin typeface="Segoe UI Semibold"/>
              </a:rPr>
              <a:t>2.9/10</a:t>
            </a:r>
          </a:p>
          <a:p>
            <a:pPr algn="ctr"/>
            <a:r>
              <a:rPr sz="1000" b="0" i="0">
                <a:solidFill>
                  <a:srgbClr val="C9CFE8"/>
                </a:solidFill>
                <a:latin typeface="Segoe UI"/>
              </a:rPr>
              <a:t>Avg satisfaction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59283" y="4453128"/>
            <a:ext cx="2006600" cy="822960"/>
          </a:xfrm>
          <a:prstGeom prst="roundRect">
            <a:avLst>
              <a:gd name="adj" fmla="val 16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59283" y="4544568"/>
            <a:ext cx="2006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D36E"/>
                </a:solidFill>
                <a:latin typeface="Segoe UI Semibold"/>
              </a:rPr>
              <a:t>81%</a:t>
            </a:r>
          </a:p>
          <a:p>
            <a:pPr algn="ctr"/>
            <a:r>
              <a:rPr sz="1000" b="0" i="0">
                <a:solidFill>
                  <a:srgbClr val="C9CFE8"/>
                </a:solidFill>
                <a:latin typeface="Segoe UI"/>
              </a:rPr>
              <a:t>Repeat volume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25998" y="4453128"/>
            <a:ext cx="2006600" cy="822960"/>
          </a:xfrm>
          <a:prstGeom prst="roundRect">
            <a:avLst>
              <a:gd name="adj" fmla="val 16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625998" y="4544568"/>
            <a:ext cx="2006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D36E"/>
                </a:solidFill>
                <a:latin typeface="Segoe UI Semibold"/>
              </a:rPr>
              <a:t>131</a:t>
            </a:r>
          </a:p>
          <a:p>
            <a:pPr algn="ctr"/>
            <a:r>
              <a:rPr sz="1000" b="0" i="0">
                <a:solidFill>
                  <a:srgbClr val="C9CFE8"/>
                </a:solidFill>
                <a:latin typeface="Segoe UI"/>
              </a:rPr>
              <a:t>Active agents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7304" y="5678424"/>
            <a:ext cx="114543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747C9B"/>
                </a:solidFill>
                <a:latin typeface="Segoe UI"/>
              </a:rPr>
              <a:t>Spreadsheet Analytics Project   ·   28,027 consultations   ·   Dec 2023 – Jan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Context · why this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Business Problem &amp; Objective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647688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647688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8" y="1133856"/>
            <a:ext cx="5755040" cy="5321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839" y="1517904"/>
            <a:ext cx="49189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7C5CFC"/>
                </a:solidFill>
                <a:latin typeface="Segoe UI Semibold"/>
              </a:rPr>
              <a:t>Business &amp;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839" y="2304288"/>
            <a:ext cx="490037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94063"/>
                </a:solidFill>
                <a:latin typeface="Segoe UI"/>
              </a:rPr>
              <a:t>AstroSage is a digital astrology platform where customers consult expert astrologers — its ‘gurus’ — over Call and Chat, across the App and Gurucool brands. Demand is strong and loyal: just </a:t>
            </a:r>
            <a:r>
              <a:rPr sz="1400" b="1">
                <a:solidFill>
                  <a:srgbClr val="1B213D"/>
                </a:solidFill>
                <a:latin typeface="Segoe UI"/>
              </a:rPr>
              <a:t>48.9% of customers are repeat callers</a:t>
            </a:r>
            <a:r>
              <a:rPr sz="1400" b="0">
                <a:solidFill>
                  <a:srgbClr val="394063"/>
                </a:solidFill>
                <a:latin typeface="Segoe UI"/>
              </a:rPr>
              <a:t>, yet they drive </a:t>
            </a:r>
            <a:r>
              <a:rPr sz="1400" b="1">
                <a:solidFill>
                  <a:srgbClr val="1B213D"/>
                </a:solidFill>
                <a:latin typeface="Segoe UI"/>
              </a:rPr>
              <a:t>~81% of all consultations</a:t>
            </a:r>
            <a:r>
              <a:rPr sz="1400" b="0">
                <a:solidFill>
                  <a:srgbClr val="394063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839" y="3767328"/>
            <a:ext cx="4900377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94063"/>
                </a:solidFill>
                <a:latin typeface="Segoe UI"/>
              </a:rPr>
              <a:t>But rapid growth has outpaced service quality and profit. </a:t>
            </a:r>
            <a:r>
              <a:rPr sz="1400" b="1">
                <a:solidFill>
                  <a:srgbClr val="1B213D"/>
                </a:solidFill>
                <a:latin typeface="Segoe UI"/>
              </a:rPr>
              <a:t>Only 28% of chats complete</a:t>
            </a:r>
            <a:r>
              <a:rPr sz="1400" b="0">
                <a:solidFill>
                  <a:srgbClr val="394063"/>
                </a:solidFill>
                <a:latin typeface="Segoe UI"/>
              </a:rPr>
              <a:t> and </a:t>
            </a:r>
            <a:r>
              <a:rPr sz="1400" b="1">
                <a:solidFill>
                  <a:srgbClr val="1B213D"/>
                </a:solidFill>
                <a:latin typeface="Segoe UI"/>
              </a:rPr>
              <a:t>~34% of calls go unanswered</a:t>
            </a:r>
            <a:r>
              <a:rPr sz="1400" b="0">
                <a:solidFill>
                  <a:srgbClr val="394063"/>
                </a:solidFill>
                <a:latin typeface="Segoe UI"/>
              </a:rPr>
              <a:t>, satisfaction averages just </a:t>
            </a:r>
            <a:r>
              <a:rPr sz="1400" b="1">
                <a:solidFill>
                  <a:srgbClr val="1B213D"/>
                </a:solidFill>
                <a:latin typeface="Segoe UI"/>
              </a:rPr>
              <a:t>2.9/10</a:t>
            </a:r>
            <a:r>
              <a:rPr sz="1400" b="0">
                <a:solidFill>
                  <a:srgbClr val="394063"/>
                </a:solidFill>
                <a:latin typeface="Segoe UI"/>
              </a:rPr>
              <a:t>, and it swings widely guru to guru (</a:t>
            </a:r>
            <a:r>
              <a:rPr sz="1400" b="1">
                <a:solidFill>
                  <a:srgbClr val="1B213D"/>
                </a:solidFill>
                <a:latin typeface="Segoe UI"/>
              </a:rPr>
              <a:t>ratings 0.10–5.95</a:t>
            </a:r>
            <a:r>
              <a:rPr sz="1400" b="0">
                <a:solidFill>
                  <a:srgbClr val="394063"/>
                </a:solidFill>
                <a:latin typeface="Segoe UI"/>
              </a:rPr>
              <a:t>) — so revenue and goodwill leak where customers decide to stay or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839" y="5431536"/>
            <a:ext cx="490037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B213D"/>
                </a:solidFill>
                <a:latin typeface="Segoe UI"/>
              </a:rPr>
              <a:t>The upshot: a strong, loyal demand base held back by reliability, consistency and weak monetisation.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2402" y="1133856"/>
            <a:ext cx="5755040" cy="5321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9734" y="1517904"/>
            <a:ext cx="49189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F5B841"/>
                </a:solidFill>
                <a:latin typeface="Segoe UI Semibold"/>
              </a:rPr>
              <a:t>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9734" y="2304288"/>
            <a:ext cx="4900377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94063"/>
                </a:solidFill>
                <a:latin typeface="Segoe UI"/>
              </a:rPr>
              <a:t>Turn the raw consultation records into a clear, evidence-based story — measuring where the business loses efficiency, satisfaction and profit, then recommending exactly where a ₹1 crore investment will deliver the highest, fastest return.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9734" y="4005072"/>
            <a:ext cx="490037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B213D"/>
                </a:solidFill>
                <a:latin typeface="Segoe UI"/>
              </a:rPr>
              <a:t>It sets out to answer three questions:</a:t>
            </a:r>
          </a:p>
        </p:txBody>
      </p:sp>
      <p:sp>
        <p:nvSpPr>
          <p:cNvPr id="23" name="Oval 22"/>
          <p:cNvSpPr/>
          <p:nvPr/>
        </p:nvSpPr>
        <p:spPr>
          <a:xfrm>
            <a:off x="6716893" y="4617720"/>
            <a:ext cx="148637" cy="146304"/>
          </a:xfrm>
          <a:prstGeom prst="ellipse">
            <a:avLst/>
          </a:prstGeom>
          <a:solidFill>
            <a:srgbClr val="34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14167" y="4462272"/>
            <a:ext cx="45473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B213D"/>
                </a:solidFill>
                <a:latin typeface="Segoe UI Semibold"/>
              </a:rPr>
              <a:t>Where is revenue leaking?</a:t>
            </a:r>
          </a:p>
        </p:txBody>
      </p:sp>
      <p:sp>
        <p:nvSpPr>
          <p:cNvPr id="25" name="Oval 24"/>
          <p:cNvSpPr/>
          <p:nvPr/>
        </p:nvSpPr>
        <p:spPr>
          <a:xfrm>
            <a:off x="6716893" y="5166359"/>
            <a:ext cx="148637" cy="146304"/>
          </a:xfrm>
          <a:prstGeom prst="ellipse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4167" y="5010912"/>
            <a:ext cx="45473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B213D"/>
                </a:solidFill>
                <a:latin typeface="Segoe UI Semibold"/>
              </a:rPr>
              <a:t>Why is customer satisfaction low?</a:t>
            </a:r>
          </a:p>
        </p:txBody>
      </p:sp>
      <p:sp>
        <p:nvSpPr>
          <p:cNvPr id="27" name="Oval 26"/>
          <p:cNvSpPr/>
          <p:nvPr/>
        </p:nvSpPr>
        <p:spPr>
          <a:xfrm>
            <a:off x="6716893" y="5714999"/>
            <a:ext cx="148637" cy="146304"/>
          </a:xfrm>
          <a:prstGeom prst="ellipse">
            <a:avLst/>
          </a:prstGeom>
          <a:solidFill>
            <a:srgbClr val="E0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14167" y="5559551"/>
            <a:ext cx="45473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B213D"/>
                </a:solidFill>
                <a:latin typeface="Segoe UI Semibold"/>
              </a:rPr>
              <a:t>Who needs coaching — and where is capacity short?</a:t>
            </a:r>
          </a:p>
        </p:txBody>
      </p:sp>
      <p:sp>
        <p:nvSpPr>
          <p:cNvPr id="29" name="BoxBar"/>
          <p:cNvSpPr/>
          <p:nvPr/>
        </p:nvSpPr>
        <p:spPr>
          <a:xfrm>
            <a:off x="182812" y="1457706"/>
            <a:ext cx="111477" cy="466496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xBar"/>
          <p:cNvSpPr/>
          <p:nvPr/>
        </p:nvSpPr>
        <p:spPr>
          <a:xfrm>
            <a:off x="6252896" y="1457706"/>
            <a:ext cx="110984" cy="4664964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The dataset at a glance · headline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Dataset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647688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647688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8" y="1170432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8354" y="1353312"/>
            <a:ext cx="613127" cy="603504"/>
          </a:xfrm>
          <a:prstGeom prst="ellipse">
            <a:avLst/>
          </a:prstGeom>
          <a:solidFill>
            <a:srgbClr val="E4D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8354" y="1353312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7C5CFC"/>
                </a:solidFill>
                <a:latin typeface="Segoe UI"/>
              </a:rPr>
              <a:t>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247" y="2011680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28,027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247" y="2401824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Consultations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91285" y="1170432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378133" y="1353312"/>
            <a:ext cx="613127" cy="603504"/>
          </a:xfrm>
          <a:prstGeom prst="ellipse">
            <a:avLst/>
          </a:prstGeom>
          <a:solidFill>
            <a:srgbClr val="F8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133" y="1353312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E056A0"/>
                </a:solidFill>
                <a:latin typeface="Segoe UI"/>
              </a:rPr>
              <a:t>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7024" y="2011680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10,344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7024" y="2401824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Unique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1064" y="1170432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787912" y="1353312"/>
            <a:ext cx="613127" cy="603504"/>
          </a:xfrm>
          <a:prstGeom prst="ellipse">
            <a:avLst/>
          </a:prstGeom>
          <a:solidFill>
            <a:srgbClr val="D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87912" y="1353312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4D3EE"/>
                </a:solidFill>
                <a:latin typeface="Segoe UI"/>
              </a:rPr>
              <a:t>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803" y="2011680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131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803" y="2401824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Agents &amp; gurus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0842" y="1170432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97689" y="1353312"/>
            <a:ext cx="613127" cy="603504"/>
          </a:xfrm>
          <a:prstGeom prst="ellipse">
            <a:avLst/>
          </a:prstGeom>
          <a:solidFill>
            <a:srgbClr val="EDE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7689" y="1353312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A78BFA"/>
                </a:solidFill>
                <a:latin typeface="Segoe UI"/>
              </a:rPr>
              <a:t>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6580" y="2011680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~824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0" y="2401824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Consultations / 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0620" y="1170432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07468" y="1353312"/>
            <a:ext cx="613127" cy="603504"/>
          </a:xfrm>
          <a:prstGeom prst="ellipse">
            <a:avLst/>
          </a:prstGeom>
          <a:solidFill>
            <a:srgbClr val="D5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07468" y="1353312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2FC58A"/>
                </a:solidFill>
                <a:latin typeface="Segoe UI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6359" y="2011680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34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6359" y="2401824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Dec 23 – Jan 24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1508" y="3023616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8354" y="3206496"/>
            <a:ext cx="613127" cy="603504"/>
          </a:xfrm>
          <a:prstGeom prst="ellipse">
            <a:avLst/>
          </a:prstGeom>
          <a:solidFill>
            <a:srgbClr val="D5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8354" y="3206496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2FC58A"/>
                </a:solidFill>
                <a:latin typeface="Segoe UI"/>
              </a:rPr>
              <a:t>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247" y="3864864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₹2.14 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247" y="4255008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Net revenue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91285" y="3023616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378133" y="3206496"/>
            <a:ext cx="613127" cy="603504"/>
          </a:xfrm>
          <a:prstGeom prst="ellipse">
            <a:avLst/>
          </a:prstGeom>
          <a:solidFill>
            <a:srgbClr val="D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78133" y="3206496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4D3EE"/>
                </a:solidFill>
                <a:latin typeface="Segoe UI"/>
              </a:rPr>
              <a:t>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47024" y="3864864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₹1.15 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47024" y="4255008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Gross profit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01064" y="3023616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787912" y="3206496"/>
            <a:ext cx="613127" cy="603504"/>
          </a:xfrm>
          <a:prstGeom prst="ellipse">
            <a:avLst/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87912" y="3206496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B841"/>
                </a:solidFill>
                <a:latin typeface="Segoe UI"/>
              </a:rPr>
              <a:t>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56803" y="3864864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~54%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56803" y="4255008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Gross margin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10842" y="3023616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97689" y="3206496"/>
            <a:ext cx="613127" cy="603504"/>
          </a:xfrm>
          <a:prstGeom prst="ellipse">
            <a:avLst/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97689" y="3206496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B841"/>
                </a:solidFill>
                <a:latin typeface="Segoe UI"/>
              </a:rPr>
              <a:t>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6580" y="3864864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₹0.99 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66580" y="4255008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Agent payout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20620" y="3023616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607468" y="3206496"/>
            <a:ext cx="613127" cy="603504"/>
          </a:xfrm>
          <a:prstGeom prst="ellipse">
            <a:avLst/>
          </a:prstGeom>
          <a:solidFill>
            <a:srgbClr val="F8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607468" y="3206496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E056A0"/>
                </a:solidFill>
                <a:latin typeface="Segoe UI"/>
              </a:rP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6359" y="3864864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2.9 /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6359" y="4255008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Avg satisfaction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1508" y="4876800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68354" y="5059680"/>
            <a:ext cx="613127" cy="603504"/>
          </a:xfrm>
          <a:prstGeom prst="ellipse">
            <a:avLst/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68354" y="5059680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5B841"/>
                </a:solidFill>
                <a:latin typeface="Segoe UI"/>
              </a:rPr>
              <a:t>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247" y="5718048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81.2%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7247" y="6108192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Repeat volume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591285" y="4876800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3378133" y="5059680"/>
            <a:ext cx="613127" cy="603504"/>
          </a:xfrm>
          <a:prstGeom prst="ellipse">
            <a:avLst/>
          </a:prstGeom>
          <a:solidFill>
            <a:srgbClr val="E4D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378133" y="5059680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7C5CFC"/>
                </a:solidFill>
                <a:latin typeface="Segoe UI"/>
              </a:rPr>
              <a:t>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47024" y="5718048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48.9%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47024" y="6108192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Repeat customers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01064" y="4876800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787912" y="5059680"/>
            <a:ext cx="613127" cy="603504"/>
          </a:xfrm>
          <a:prstGeom prst="ellipse">
            <a:avLst/>
          </a:prstGeom>
          <a:solidFill>
            <a:srgbClr val="D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787912" y="5059680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34D3EE"/>
                </a:solidFill>
                <a:latin typeface="Segoe UI"/>
              </a:rPr>
              <a:t>≫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56803" y="5718048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8.5×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56803" y="6108192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Call vs Chat ₹/consult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10842" y="4876800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197689" y="5059680"/>
            <a:ext cx="613127" cy="603504"/>
          </a:xfrm>
          <a:prstGeom prst="ellipse">
            <a:avLst/>
          </a:prstGeom>
          <a:solidFill>
            <a:srgbClr val="D5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97689" y="5059680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2FC58A"/>
                </a:solidFill>
                <a:latin typeface="Segoe UI"/>
              </a:rPr>
              <a:t>✆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66580" y="5718048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66%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66580" y="6108192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Call answer rate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820620" y="4876800"/>
            <a:ext cx="2186821" cy="16520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607468" y="5059680"/>
            <a:ext cx="613127" cy="603504"/>
          </a:xfrm>
          <a:prstGeom prst="ellipse">
            <a:avLst/>
          </a:prstGeom>
          <a:solidFill>
            <a:srgbClr val="EDE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607468" y="5059680"/>
            <a:ext cx="61312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A78BFA"/>
                </a:solidFill>
                <a:latin typeface="Segoe UI"/>
              </a:rPr>
              <a:t>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76359" y="5718048"/>
            <a:ext cx="2075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1B213D"/>
                </a:solidFill>
                <a:latin typeface="Segoe UI Semibold"/>
              </a:rPr>
              <a:t>28%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76359" y="6108192"/>
            <a:ext cx="20753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47C9B"/>
                </a:solidFill>
                <a:latin typeface="Segoe UI"/>
              </a:rPr>
              <a:t>Chat completion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A guided tour of the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What this deck covers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51560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1507" y="1179576"/>
            <a:ext cx="76729" cy="46634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0878" y="1165860"/>
            <a:ext cx="517923" cy="493776"/>
          </a:xfrm>
          <a:prstGeom prst="ellipse">
            <a:avLst/>
          </a:prstGeom>
          <a:solidFill>
            <a:srgbClr val="7C5CF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0878" y="1165860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7C5CFC"/>
                </a:solidFill>
                <a:latin typeface="Segoe UI Semi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261" y="1051560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Dataset &amp; data cleaning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6818" y="1051560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56818" y="1179576"/>
            <a:ext cx="76729" cy="466344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6188" y="1165860"/>
            <a:ext cx="517923" cy="493776"/>
          </a:xfrm>
          <a:prstGeom prst="ellipse">
            <a:avLst/>
          </a:prstGeom>
          <a:solidFill>
            <a:srgbClr val="F5B841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6188" y="1165860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B841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571" y="1051560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Headline KPIs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1507" y="1833372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81507" y="1961388"/>
            <a:ext cx="76729" cy="466344"/>
          </a:xfrm>
          <a:prstGeom prst="roundRect">
            <a:avLst>
              <a:gd name="adj" fmla="val 50000"/>
            </a:avLst>
          </a:prstGeom>
          <a:solidFill>
            <a:srgbClr val="34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0878" y="1947672"/>
            <a:ext cx="517923" cy="493776"/>
          </a:xfrm>
          <a:prstGeom prst="ellipse">
            <a:avLst/>
          </a:prstGeom>
          <a:solidFill>
            <a:srgbClr val="34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0878" y="1947672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EE"/>
                </a:solidFill>
                <a:latin typeface="Segoe UI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2261" y="1833372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Demand &amp; volume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6818" y="1833372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56818" y="1961388"/>
            <a:ext cx="76729" cy="466344"/>
          </a:xfrm>
          <a:prstGeom prst="roundRect">
            <a:avLst>
              <a:gd name="adj" fmla="val 50000"/>
            </a:avLst>
          </a:prstGeom>
          <a:solidFill>
            <a:srgbClr val="E0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6188" y="1947672"/>
            <a:ext cx="517923" cy="493776"/>
          </a:xfrm>
          <a:prstGeom prst="ellipse">
            <a:avLst/>
          </a:prstGeom>
          <a:solidFill>
            <a:srgbClr val="E056A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6188" y="1947672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56A0"/>
                </a:solidFill>
                <a:latin typeface="Segoe UI Semibol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571" y="1833372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Peak-period handling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1507" y="2615184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81507" y="2743200"/>
            <a:ext cx="76729" cy="466344"/>
          </a:xfrm>
          <a:prstGeom prst="roundRect">
            <a:avLst>
              <a:gd name="adj" fmla="val 50000"/>
            </a:avLst>
          </a:prstGeom>
          <a:solidFill>
            <a:srgbClr val="2F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0878" y="2729484"/>
            <a:ext cx="517923" cy="493776"/>
          </a:xfrm>
          <a:prstGeom prst="ellipse">
            <a:avLst/>
          </a:prstGeom>
          <a:solidFill>
            <a:srgbClr val="2FC58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0878" y="2729484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FC58A"/>
                </a:solidFill>
                <a:latin typeface="Segoe UI Semibold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261" y="2615184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Revenue &amp; channel economics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6818" y="2615184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56818" y="2743200"/>
            <a:ext cx="76729" cy="46634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6188" y="2729484"/>
            <a:ext cx="517923" cy="493776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6188" y="2729484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  <a:latin typeface="Segoe UI Semibol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571" y="2615184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Platform: App vs Gurucool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1507" y="3396996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81507" y="3525012"/>
            <a:ext cx="76729" cy="46634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30878" y="3511295"/>
            <a:ext cx="517923" cy="493776"/>
          </a:xfrm>
          <a:prstGeom prst="ellipse">
            <a:avLst/>
          </a:prstGeom>
          <a:solidFill>
            <a:srgbClr val="7C5CF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0878" y="3511295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7C5CFC"/>
                </a:solidFill>
                <a:latin typeface="Segoe UI Semibold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2261" y="3396996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Customers &amp; loyalty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6818" y="3396996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156818" y="3525012"/>
            <a:ext cx="76729" cy="466344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406188" y="3511295"/>
            <a:ext cx="517923" cy="493776"/>
          </a:xfrm>
          <a:prstGeom prst="ellipse">
            <a:avLst/>
          </a:prstGeom>
          <a:solidFill>
            <a:srgbClr val="F5B841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6188" y="3511295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B841"/>
                </a:solidFill>
                <a:latin typeface="Segoe UI Semibold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7571" y="3396996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Service quality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1507" y="4178808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81507" y="4306824"/>
            <a:ext cx="76729" cy="466344"/>
          </a:xfrm>
          <a:prstGeom prst="roundRect">
            <a:avLst>
              <a:gd name="adj" fmla="val 50000"/>
            </a:avLst>
          </a:prstGeom>
          <a:solidFill>
            <a:srgbClr val="34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30878" y="4293108"/>
            <a:ext cx="517923" cy="493776"/>
          </a:xfrm>
          <a:prstGeom prst="ellipse">
            <a:avLst/>
          </a:prstGeom>
          <a:solidFill>
            <a:srgbClr val="34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0878" y="4293108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EE"/>
                </a:solidFill>
                <a:latin typeface="Segoe UI Semibold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2261" y="4178808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Satisfaction drivers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56818" y="4178808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156818" y="4306824"/>
            <a:ext cx="76729" cy="466344"/>
          </a:xfrm>
          <a:prstGeom prst="roundRect">
            <a:avLst>
              <a:gd name="adj" fmla="val 50000"/>
            </a:avLst>
          </a:prstGeom>
          <a:solidFill>
            <a:srgbClr val="E0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06188" y="4293108"/>
            <a:ext cx="517923" cy="493776"/>
          </a:xfrm>
          <a:prstGeom prst="ellipse">
            <a:avLst/>
          </a:prstGeom>
          <a:solidFill>
            <a:srgbClr val="E056A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6188" y="4293108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56A0"/>
                </a:solidFill>
                <a:latin typeface="Segoe UI Semibol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77571" y="4178808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Agent performance &amp; workload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1507" y="4960620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81507" y="5088636"/>
            <a:ext cx="76729" cy="466344"/>
          </a:xfrm>
          <a:prstGeom prst="roundRect">
            <a:avLst>
              <a:gd name="adj" fmla="val 50000"/>
            </a:avLst>
          </a:prstGeom>
          <a:solidFill>
            <a:srgbClr val="2F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430878" y="5074920"/>
            <a:ext cx="517923" cy="493776"/>
          </a:xfrm>
          <a:prstGeom prst="ellipse">
            <a:avLst/>
          </a:prstGeom>
          <a:solidFill>
            <a:srgbClr val="2FC58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0878" y="5074920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FC58A"/>
                </a:solidFill>
                <a:latin typeface="Segoe UI Semibold"/>
              </a:rPr>
              <a:t>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2261" y="4960620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Guru quality spread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6818" y="4960620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156818" y="5088636"/>
            <a:ext cx="76729" cy="46634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406188" y="5074920"/>
            <a:ext cx="517923" cy="493776"/>
          </a:xfrm>
          <a:prstGeom prst="ellipse">
            <a:avLst/>
          </a:prstGeom>
          <a:solidFill>
            <a:srgbClr val="A78B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06188" y="5074920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  <a:latin typeface="Segoe UI Semibold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77571" y="4960620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Weekly rhythm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1507" y="5742431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181507" y="5870447"/>
            <a:ext cx="76729" cy="46634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30878" y="5856731"/>
            <a:ext cx="517923" cy="493776"/>
          </a:xfrm>
          <a:prstGeom prst="ellipse">
            <a:avLst/>
          </a:prstGeom>
          <a:solidFill>
            <a:srgbClr val="7C5CF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0878" y="5856731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7C5CFC"/>
                </a:solidFill>
                <a:latin typeface="Segoe UI Semibold"/>
              </a:rPr>
              <a:t>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2261" y="5742431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Strategic recommendations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56818" y="5742431"/>
            <a:ext cx="5831441" cy="72237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6156818" y="5870447"/>
            <a:ext cx="76729" cy="466344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406188" y="5856731"/>
            <a:ext cx="517923" cy="493776"/>
          </a:xfrm>
          <a:prstGeom prst="ellipse">
            <a:avLst/>
          </a:prstGeom>
          <a:solidFill>
            <a:srgbClr val="F5B841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06188" y="5856731"/>
            <a:ext cx="51792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B841"/>
                </a:solidFill>
                <a:latin typeface="Segoe UI Semibold"/>
              </a:rP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7571" y="5742431"/>
            <a:ext cx="4824367" cy="722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i="0">
                <a:solidFill>
                  <a:srgbClr val="1B213D"/>
                </a:solidFill>
                <a:latin typeface="Segoe UI Semibold"/>
              </a:rPr>
              <a:t>₹1 crore investment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questions 1–3 &amp;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Dataset &amp; Data Cleaning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60704"/>
            <a:ext cx="2340249" cy="1133856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1507" y="1225295"/>
            <a:ext cx="76729" cy="804672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1507" y="1243584"/>
            <a:ext cx="234024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D36E"/>
                </a:solidFill>
                <a:latin typeface="Segoe UI Semibold"/>
              </a:rPr>
              <a:t>28,027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507" y="1810512"/>
            <a:ext cx="23402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C9CFE8"/>
                </a:solidFill>
                <a:latin typeface="Segoe UI"/>
              </a:rPr>
              <a:t>Rows analysed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4399" y="1060704"/>
            <a:ext cx="2340249" cy="1133856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694399" y="1225295"/>
            <a:ext cx="76729" cy="804672"/>
          </a:xfrm>
          <a:prstGeom prst="roundRect">
            <a:avLst>
              <a:gd name="adj" fmla="val 50000"/>
            </a:avLst>
          </a:prstGeom>
          <a:solidFill>
            <a:srgbClr val="34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94399" y="1243584"/>
            <a:ext cx="234024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D36E"/>
                </a:solidFill>
                <a:latin typeface="Segoe UI Semibold"/>
              </a:rPr>
              <a:t>35 + 13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4399" y="1810512"/>
            <a:ext cx="23402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C9CFE8"/>
                </a:solidFill>
                <a:latin typeface="Segoe UI"/>
              </a:rPr>
              <a:t>Raw + derived cols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07290" y="1060704"/>
            <a:ext cx="2340249" cy="1133856"/>
          </a:xfrm>
          <a:prstGeom prst="roundRect">
            <a:avLst>
              <a:gd name="adj" fmla="val 10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07290" y="1225295"/>
            <a:ext cx="76729" cy="804672"/>
          </a:xfrm>
          <a:prstGeom prst="roundRect">
            <a:avLst>
              <a:gd name="adj" fmla="val 50000"/>
            </a:avLst>
          </a:prstGeom>
          <a:solidFill>
            <a:srgbClr val="E0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07290" y="1243584"/>
            <a:ext cx="234024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D36E"/>
                </a:solidFill>
                <a:latin typeface="Segoe UI Semibold"/>
              </a:rPr>
              <a:t>~16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7290" y="1810512"/>
            <a:ext cx="23402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C9CFE8"/>
                </a:solidFill>
                <a:latin typeface="Segoe UI"/>
              </a:rPr>
              <a:t>Categorical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507" y="2359152"/>
            <a:ext cx="7385214" cy="4032504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81507" y="2359152"/>
            <a:ext cx="7385214" cy="781812"/>
          </a:xfrm>
          <a:prstGeom prst="roundRect">
            <a:avLst>
              <a:gd name="adj" fmla="val 14035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331" y="2359152"/>
            <a:ext cx="306917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D36E"/>
                </a:solidFill>
                <a:latin typeface="Segoe UI Semibold"/>
              </a:rPr>
              <a:t>Field /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2512" y="2359152"/>
            <a:ext cx="2397796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D36E"/>
                </a:solidFill>
                <a:latin typeface="Segoe UI Semibold"/>
              </a:rPr>
              <a:t>Raw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6220" y="2359152"/>
            <a:ext cx="153458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D36E"/>
                </a:solidFill>
                <a:latin typeface="Segoe UI Semibold"/>
              </a:rPr>
              <a:t>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1507" y="3031236"/>
            <a:ext cx="738521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3331" y="3031236"/>
            <a:ext cx="306917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amount / earnings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2512" y="3031236"/>
            <a:ext cx="2397796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blank for free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6220" y="3031236"/>
            <a:ext cx="153458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C5CFC"/>
                </a:solidFill>
                <a:latin typeface="Segoe UI"/>
              </a:rPr>
              <a:t>Filled →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1507" y="3703320"/>
            <a:ext cx="7385214" cy="672084"/>
          </a:xfrm>
          <a:prstGeom prst="rect">
            <a:avLst/>
          </a:prstGeom>
          <a:solidFill>
            <a:srgbClr val="F1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3331" y="3703320"/>
            <a:ext cx="306917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chatStatus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2512" y="3703320"/>
            <a:ext cx="2397796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8,512 blanks (calls)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36220" y="3703320"/>
            <a:ext cx="153458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C5CFC"/>
                </a:solidFill>
                <a:latin typeface="Segoe UI"/>
              </a:rPr>
              <a:t>Filled → N/A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1507" y="4375404"/>
            <a:ext cx="738521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3331" y="4375404"/>
            <a:ext cx="306917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durations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2512" y="4375404"/>
            <a:ext cx="2397796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8,513 blanks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36220" y="4375404"/>
            <a:ext cx="153458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C5CFC"/>
                </a:solidFill>
                <a:latin typeface="Segoe UI"/>
              </a:rPr>
              <a:t>Unified field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1507" y="5047488"/>
            <a:ext cx="7385214" cy="672084"/>
          </a:xfrm>
          <a:prstGeom prst="rect">
            <a:avLst/>
          </a:prstGeom>
          <a:solidFill>
            <a:srgbClr val="F1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3331" y="5047488"/>
            <a:ext cx="306917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guruName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42512" y="5047488"/>
            <a:ext cx="2397796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double spaces, emojis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6220" y="5047488"/>
            <a:ext cx="153458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C5CFC"/>
                </a:solidFill>
                <a:latin typeface="Segoe UI"/>
              </a:rPr>
              <a:t>TRIM + CLEAN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331" y="5719572"/>
            <a:ext cx="306917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Duplicates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2512" y="5719572"/>
            <a:ext cx="2397796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394063"/>
                </a:solidFill>
                <a:latin typeface="Segoe UI"/>
              </a:rPr>
              <a:t>0 dup IDs / rows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6220" y="5719572"/>
            <a:ext cx="1534589" cy="6720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7C5CFC"/>
                </a:solidFill>
                <a:latin typeface="Segoe UI"/>
              </a:rPr>
              <a:t>Verified clean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54458" y="1024128"/>
            <a:ext cx="4152984" cy="5468112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5-Point Star 48"/>
          <p:cNvSpPr/>
          <p:nvPr/>
        </p:nvSpPr>
        <p:spPr>
          <a:xfrm>
            <a:off x="8180558" y="1367028"/>
            <a:ext cx="172640" cy="164592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49111" y="1325880"/>
            <a:ext cx="348160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80">
                <a:solidFill>
                  <a:srgbClr val="F5B841"/>
                </a:solidFill>
                <a:latin typeface="Segoe UI Semibold"/>
              </a:rPr>
              <a:t>CLEANING APPROACH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376" y="1773936"/>
            <a:ext cx="367342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D36E"/>
                </a:solidFill>
                <a:latin typeface="Segoe UI Semibold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0558" y="2651760"/>
            <a:ext cx="3577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C9CFE8"/>
                </a:solidFill>
                <a:latin typeface="Segoe UI"/>
              </a:rPr>
              <a:t>blank cells remain across 28,027 rows after cleaning.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0558" y="3602736"/>
            <a:ext cx="3500783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80558" y="3803904"/>
            <a:ext cx="355833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Consistency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standardised text; trimmed 151 name variants.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Completeness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missing numerics → 0, text → N/A.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Enrichment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13 derived cols: Month, Hour, Revenue, Repeat…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questions 4–5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Demand &amp; Volume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11825935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1507" y="5157216"/>
            <a:ext cx="11825935" cy="1335024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526791" y="5326379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6161" y="5285231"/>
            <a:ext cx="4795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2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791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~824 /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791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average across the 34-day window.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939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3858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26,488 in 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858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the only full month (Jan partial 1,539).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118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037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Peak 1,324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37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on 15 Dec; low 325 on New-Year day.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92985" y="1170432"/>
          <a:ext cx="11602979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PEAK PERIODS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Subjective question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Peak-Period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11825935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1507" y="5157216"/>
            <a:ext cx="11825935" cy="1335024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526791" y="5326379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6161" y="5285231"/>
            <a:ext cx="4795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2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791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06–10 &amp; 15–16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791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twin demand peaks (busiest 1,875 at 08:00).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939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3858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Night dip ~1.7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858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ratings fall in thinly-staffed 00–01h &amp; 21h.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118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037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Roster to peaks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37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add trained evening / night cover.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92985" y="1170432"/>
          <a:ext cx="11602979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question 9 + channel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Revenue &amp; Channel Economics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6234271" cy="5468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84333" y="1097280"/>
            <a:ext cx="5275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B213D"/>
                </a:solidFill>
                <a:latin typeface="Segoe UI Semibold"/>
              </a:rPr>
              <a:t>Call vs Chat economics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84333" y="1572768"/>
            <a:ext cx="5275153" cy="2048256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84333" y="1572768"/>
            <a:ext cx="5275153" cy="621792"/>
          </a:xfrm>
          <a:prstGeom prst="roundRect">
            <a:avLst>
              <a:gd name="adj" fmla="val 17647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7792" y="1572768"/>
            <a:ext cx="182232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D36E"/>
                </a:solidFill>
                <a:latin typeface="Segoe UI Semibold"/>
              </a:rPr>
              <a:t>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2570" y="1572768"/>
            <a:ext cx="115094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D36E"/>
                </a:solidFill>
                <a:latin typeface="Segoe UI Semibold"/>
              </a:rPr>
              <a:t>Consults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3514" y="1572768"/>
            <a:ext cx="124685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D36E"/>
                </a:solidFill>
                <a:latin typeface="Segoe UI Semibold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0368" y="1572768"/>
            <a:ext cx="86320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D36E"/>
                </a:solidFill>
                <a:latin typeface="Segoe UI Semibold"/>
              </a:rPr>
              <a:t>/consult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84333" y="2084832"/>
            <a:ext cx="5275153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7792" y="2084832"/>
            <a:ext cx="182232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213D"/>
                </a:solidFill>
                <a:latin typeface="Segoe UI"/>
              </a:rPr>
              <a:t>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2570" y="2084832"/>
            <a:ext cx="115094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8,508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3514" y="2084832"/>
            <a:ext cx="124685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₹1.68 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368" y="2084832"/>
            <a:ext cx="86320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₹19.8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84333" y="2596896"/>
            <a:ext cx="5275153" cy="512064"/>
          </a:xfrm>
          <a:prstGeom prst="rect">
            <a:avLst/>
          </a:prstGeom>
          <a:solidFill>
            <a:srgbClr val="F1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7792" y="2596896"/>
            <a:ext cx="182232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213D"/>
                </a:solidFill>
                <a:latin typeface="Segoe UI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2570" y="2596896"/>
            <a:ext cx="115094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19,514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3514" y="2596896"/>
            <a:ext cx="124685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₹45.5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0368" y="2596896"/>
            <a:ext cx="86320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₹2.33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7792" y="3108960"/>
            <a:ext cx="182232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B213D"/>
                </a:solidFill>
                <a:latin typeface="Segoe UI"/>
              </a:rPr>
              <a:t>Other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2570" y="3108960"/>
            <a:ext cx="115094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3514" y="3108960"/>
            <a:ext cx="1246853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₹51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0368" y="3108960"/>
            <a:ext cx="86320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94063"/>
                </a:solidFill>
                <a:latin typeface="Segoe UI"/>
              </a:rPr>
              <a:t>₹10.1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4333" y="3877056"/>
            <a:ext cx="5275153" cy="2615184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5-Point Star 35"/>
          <p:cNvSpPr/>
          <p:nvPr/>
        </p:nvSpPr>
        <p:spPr>
          <a:xfrm>
            <a:off x="7010434" y="4242816"/>
            <a:ext cx="172640" cy="164592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1252" y="4626864"/>
            <a:ext cx="4795593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D36E"/>
                </a:solidFill>
                <a:latin typeface="Segoe UI Semibold"/>
              </a:rPr>
              <a:t>8.5×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0434" y="5577840"/>
            <a:ext cx="469968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C9CFE8"/>
                </a:solidFill>
                <a:latin typeface="Segoe UI"/>
              </a:rPr>
              <a:t>more revenue per Call than Chat (₹19.8 vs ₹2.33). Scale Calls; fix Chat reliability before growing it.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292985" y="1481328"/>
          <a:ext cx="6011316" cy="4736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Subjective question 3 · channel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Platform: App vs Gurucool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2827002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81151" y="1024128"/>
            <a:ext cx="2827002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80795" y="1024128"/>
            <a:ext cx="2827002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80440" y="1024128"/>
            <a:ext cx="2827002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81507" y="5157216"/>
            <a:ext cx="11825935" cy="1335024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5-Point Star 20"/>
          <p:cNvSpPr/>
          <p:nvPr/>
        </p:nvSpPr>
        <p:spPr>
          <a:xfrm>
            <a:off x="526791" y="5326379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6161" y="5285231"/>
            <a:ext cx="4795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2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791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App = ₹1.25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791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monetises best despite 7,800 consults.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939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3858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Gurucool = 20,225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858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higher volume, lower rating (2.69 vs 3.50).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3118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037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Play to strengths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037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bring App's monetisation to Gurucool.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311564" y="1426464"/>
          <a:ext cx="2566887" cy="343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311209" y="1426464"/>
          <a:ext cx="2566887" cy="343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310853" y="1426464"/>
          <a:ext cx="2566887" cy="343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9310497" y="1426464"/>
          <a:ext cx="2566887" cy="343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LOYALTY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questions 8 &amp;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Customers &amp; Loyalty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5083329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37479" y="1024128"/>
            <a:ext cx="6569964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1507" y="5157216"/>
            <a:ext cx="11825935" cy="1335024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5-Point Star 16"/>
          <p:cNvSpPr/>
          <p:nvPr/>
        </p:nvSpPr>
        <p:spPr>
          <a:xfrm>
            <a:off x="526791" y="5326379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6161" y="5285231"/>
            <a:ext cx="4795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2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791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10,344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791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48.9% are repeat callers.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939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3858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81% of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858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comes from repeat callers — retention wins.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3118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037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158 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037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consultations by a single power user.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292985" y="1481328"/>
          <a:ext cx="4860373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548957" y="1481328"/>
          <a:ext cx="6347008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14 · satisfaction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Service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7529082" cy="5468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54458" y="1024128"/>
            <a:ext cx="4152984" cy="5468112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8180558" y="1367028"/>
            <a:ext cx="172640" cy="164592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111" y="1325880"/>
            <a:ext cx="348160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8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1376" y="1773936"/>
            <a:ext cx="367342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D36E"/>
                </a:solidFill>
                <a:latin typeface="Segoe UI Semibold"/>
              </a:rPr>
              <a:t>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0558" y="2651760"/>
            <a:ext cx="3577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C9CFE8"/>
                </a:solidFill>
                <a:latin typeface="Segoe UI"/>
              </a:rPr>
              <a:t>of rated consultations score Low (1–3) — the clearest signal to lift.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0558" y="3602736"/>
            <a:ext cx="3500783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0558" y="3803904"/>
            <a:ext cx="355833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Not rated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26% left no score (7,256).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High (6–8)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only 20% delight customers.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So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quality &amp; consistency are the gap.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92985" y="1481328"/>
          <a:ext cx="7306127" cy="4700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11 &amp; Subjective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Satisfaction Drivers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7529082" cy="5468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54458" y="1024128"/>
            <a:ext cx="4152984" cy="5468112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8180558" y="1367028"/>
            <a:ext cx="172640" cy="164592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111" y="1325880"/>
            <a:ext cx="348160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8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1376" y="1773936"/>
            <a:ext cx="367342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D36E"/>
                </a:solidFill>
                <a:latin typeface="Segoe UI Semibold"/>
              </a:rPr>
              <a:t>r ≈ 0.53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0558" y="2651760"/>
            <a:ext cx="3577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C9CFE8"/>
                </a:solidFill>
                <a:latin typeface="Segoe UI"/>
              </a:rPr>
              <a:t>moderate positive correlation between call duration and rating.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0558" y="3602736"/>
            <a:ext cx="3500783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0558" y="3803904"/>
            <a:ext cx="355833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Completion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completed sessions ~7.0 vs ~2.0 incomplete.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Sweet spot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3–5 min rates best (6.68).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So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fix connection quality to lift satisfaction.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92985" y="1481328"/>
          <a:ext cx="7306127" cy="4700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7 &amp; Subjective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Agent Performance &amp; Workload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7529082" cy="5468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54458" y="1024128"/>
            <a:ext cx="4152984" cy="5468112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8180558" y="1367028"/>
            <a:ext cx="172640" cy="164592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111" y="1325880"/>
            <a:ext cx="348160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8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1376" y="1773936"/>
            <a:ext cx="367342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D36E"/>
                </a:solidFill>
                <a:latin typeface="Segoe UI Semibold"/>
              </a:rPr>
              <a:t>37%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0558" y="2651760"/>
            <a:ext cx="3577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C9CFE8"/>
                </a:solidFill>
                <a:latin typeface="Segoe UI"/>
              </a:rPr>
              <a:t>of all volume handled by just the top 10 of 131 agents.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0558" y="3602736"/>
            <a:ext cx="3500783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0558" y="3803904"/>
            <a:ext cx="355833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Top load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Astro Krishaa — 1,580 consults.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Imbalance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busiest 1,580 vs median ~67.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Balance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skill-based routing + per-agent caps.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92985" y="1481328"/>
          <a:ext cx="7306127" cy="4700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QUALITY SPREAD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Objective 12 · best vs worst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Guru Quality Spread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7529082" cy="5468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54458" y="1024128"/>
            <a:ext cx="4152984" cy="5468112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8180558" y="1367028"/>
            <a:ext cx="172640" cy="164592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111" y="1325880"/>
            <a:ext cx="348160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8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1376" y="1773936"/>
            <a:ext cx="367342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>
                <a:solidFill>
                  <a:srgbClr val="FFD36E"/>
                </a:solidFill>
                <a:latin typeface="Segoe UI Semibold"/>
              </a:rPr>
              <a:t>0.10→5.95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0558" y="2651760"/>
            <a:ext cx="3577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C9CFE8"/>
                </a:solidFill>
                <a:latin typeface="Segoe UI"/>
              </a:rPr>
              <a:t>the rating gap between the worst and best gurus (≥50 consults).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0558" y="3602736"/>
            <a:ext cx="3500783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0558" y="3803904"/>
            <a:ext cx="355833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Best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Daljit Kaur 5.95 — codify what she does.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Worst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Astro K Ojha 0.10 — targeted coaching.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300" b="1" i="0">
                <a:solidFill>
                  <a:srgbClr val="F5B841"/>
                </a:solidFill>
                <a:latin typeface="Segoe UI"/>
              </a:rPr>
              <a:t>▸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Route  </a:t>
            </a:r>
            <a:r>
              <a:rPr sz="1300" b="0" i="0">
                <a:solidFill>
                  <a:srgbClr val="C9CFE8"/>
                </a:solidFill>
                <a:latin typeface="Segoe UI"/>
              </a:rPr>
              <a:t>send high-value callers to top gurus.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92985" y="1481328"/>
          <a:ext cx="7306127" cy="4700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Subjective 5 · demand &amp; satisfaction by weekday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Weekly Rhythm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11825935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1507" y="5157216"/>
            <a:ext cx="11825935" cy="1335024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526791" y="5326379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6161" y="5285231"/>
            <a:ext cx="4795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120">
                <a:solidFill>
                  <a:srgbClr val="F5B841"/>
                </a:solidFill>
                <a:latin typeface="Segoe UI Semibold"/>
              </a:rPr>
              <a:t>KEY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791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Weekends busiest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791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Sunday 4,592 &amp; Friday 4,515 lead volume.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939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3858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Midweek dip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858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Wed / Thu lightest (~3,350).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1188" y="5669279"/>
            <a:ext cx="19182" cy="585216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0370" y="5687568"/>
            <a:ext cx="34240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FFD36E"/>
                </a:solidFill>
                <a:latin typeface="Segoe UI Semibold"/>
              </a:rPr>
              <a:t>Rating stable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370" y="6071616"/>
            <a:ext cx="33856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C9CFE8"/>
                </a:solidFill>
                <a:latin typeface="Segoe UI"/>
              </a:rPr>
              <a:t>2.7–3.2 all week (Tuesday best).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92985" y="1170432"/>
          <a:ext cx="11602979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Pivot-driven · slicer-filtered · built in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Interactive Excel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647688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647688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024128"/>
            <a:ext cx="7404617" cy="54315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61817" y="1024128"/>
            <a:ext cx="4146997" cy="5431536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ashboard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7221737" cy="5248656"/>
          </a:xfrm>
          <a:prstGeom prst="rect">
            <a:avLst/>
          </a:prstGeom>
        </p:spPr>
      </p:pic>
      <p:sp>
        <p:nvSpPr>
          <p:cNvPr id="16" name="5-Point Star 15"/>
          <p:cNvSpPr/>
          <p:nvPr/>
        </p:nvSpPr>
        <p:spPr>
          <a:xfrm>
            <a:off x="8172713" y="1307592"/>
            <a:ext cx="155448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033" y="1280160"/>
            <a:ext cx="328746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5B841"/>
                </a:solidFill>
                <a:latin typeface="Segoe UI Semibold"/>
              </a:rPr>
              <a:t>WHAT IT REVEALS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001" y="1719072"/>
            <a:ext cx="350691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9CFE8"/>
                </a:solidFill>
                <a:latin typeface="Segoe UI"/>
              </a:rPr>
              <a:t>Every KPI and chart is pivot-driven — slice by channel, platform or hour and the story behind the headline numbers appears at once: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1001" y="2816352"/>
            <a:ext cx="3488629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1001" y="2999232"/>
            <a:ext cx="3525205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5B841"/>
                </a:solidFill>
                <a:latin typeface="Segoe UI"/>
              </a:rPr>
              <a:t>▸  </a:t>
            </a:r>
            <a:r>
              <a:rPr sz="1250" b="1">
                <a:solidFill>
                  <a:srgbClr val="FFFFFF"/>
                </a:solidFill>
                <a:latin typeface="Segoe UI Semibold"/>
              </a:rPr>
              <a:t>Reliability gap  </a:t>
            </a:r>
            <a:r>
              <a:rPr sz="1250">
                <a:solidFill>
                  <a:srgbClr val="C9CFE8"/>
                </a:solidFill>
                <a:latin typeface="Segoe UI"/>
              </a:rPr>
              <a:t>only ~28% of chats complete vs ~66% of calls — connection is the real bottleneck.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001" y="3867912"/>
            <a:ext cx="3525205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5B841"/>
                </a:solidFill>
                <a:latin typeface="Segoe UI"/>
              </a:rPr>
              <a:t>▸  </a:t>
            </a:r>
            <a:r>
              <a:rPr sz="1250" b="1">
                <a:solidFill>
                  <a:srgbClr val="FFFFFF"/>
                </a:solidFill>
                <a:latin typeface="Segoe UI Semibold"/>
              </a:rPr>
              <a:t>Channel &amp; platform  </a:t>
            </a:r>
            <a:r>
              <a:rPr sz="1250">
                <a:solidFill>
                  <a:srgbClr val="C9CFE8"/>
                </a:solidFill>
                <a:latin typeface="Segoe UI"/>
              </a:rPr>
              <a:t>Calls earn ~8.5× more revenue per consult; App monetises better than Gurucool.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001" y="4736592"/>
            <a:ext cx="3525205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5B841"/>
                </a:solidFill>
                <a:latin typeface="Segoe UI"/>
              </a:rPr>
              <a:t>▸  </a:t>
            </a:r>
            <a:r>
              <a:rPr sz="1250" b="1">
                <a:solidFill>
                  <a:srgbClr val="FFFFFF"/>
                </a:solidFill>
                <a:latin typeface="Segoe UI Semibold"/>
              </a:rPr>
              <a:t>Quality spread  </a:t>
            </a:r>
            <a:r>
              <a:rPr sz="1250">
                <a:solidFill>
                  <a:srgbClr val="C9CFE8"/>
                </a:solidFill>
                <a:latin typeface="Segoe UI"/>
              </a:rPr>
              <a:t>guru ratings fan out from 0.10 to 5.95; ratings climb with session completion.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001" y="5605272"/>
            <a:ext cx="3525205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5B841"/>
                </a:solidFill>
                <a:latin typeface="Segoe UI"/>
              </a:rPr>
              <a:t>▸  </a:t>
            </a:r>
            <a:r>
              <a:rPr sz="1250" b="1">
                <a:solidFill>
                  <a:srgbClr val="FFFFFF"/>
                </a:solidFill>
                <a:latin typeface="Segoe UI Semibold"/>
              </a:rPr>
              <a:t>Demand rhythm  </a:t>
            </a:r>
            <a:r>
              <a:rPr sz="1250">
                <a:solidFill>
                  <a:srgbClr val="C9CFE8"/>
                </a:solidFill>
                <a:latin typeface="Segoe UI"/>
              </a:rPr>
              <a:t>clear hourly &amp; weekday peaks show exactly when to add staff.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8050" y="0"/>
            <a:ext cx="1278793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96171" y="-1554480"/>
            <a:ext cx="4028298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32640" y="4846320"/>
            <a:ext cx="3452827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507" y="146304"/>
            <a:ext cx="163049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60" y="118872"/>
            <a:ext cx="6234271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F5B841"/>
                </a:solidFill>
                <a:latin typeface="Segoe UI Semibold"/>
              </a:rPr>
              <a:t>THE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132" y="118872"/>
            <a:ext cx="597531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50" b="0" i="0">
                <a:solidFill>
                  <a:srgbClr val="394063"/>
                </a:solidFill>
                <a:latin typeface="Segoe UI Semibold"/>
              </a:rPr>
              <a:t>Subjective question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" y="365760"/>
            <a:ext cx="11845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B213D"/>
                </a:solidFill>
                <a:latin typeface="Segoe UI Semibold"/>
              </a:rPr>
              <a:t>₹1 Crore Investment Allocation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7" y="822960"/>
            <a:ext cx="556288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7" y="6588252"/>
            <a:ext cx="7672949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550" y="6588252"/>
            <a:ext cx="987892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 i="0">
                <a:solidFill>
                  <a:srgbClr val="747C9B"/>
                </a:solidFill>
                <a:latin typeface="Segoe UI"/>
              </a:rP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7" y="1024128"/>
            <a:ext cx="7529082" cy="5468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54458" y="1024128"/>
            <a:ext cx="4152984" cy="5468112"/>
          </a:xfrm>
          <a:prstGeom prst="roundRect">
            <a:avLst>
              <a:gd name="adj" fmla="val 6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5-Point Star 14"/>
          <p:cNvSpPr/>
          <p:nvPr/>
        </p:nvSpPr>
        <p:spPr>
          <a:xfrm>
            <a:off x="8180558" y="1348740"/>
            <a:ext cx="172640" cy="164592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111" y="1307592"/>
            <a:ext cx="348160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80">
                <a:solidFill>
                  <a:srgbClr val="F5B841"/>
                </a:solidFill>
                <a:latin typeface="Segoe UI Semibold"/>
              </a:rPr>
              <a:t>THE PLAN</a:t>
            </a:r>
          </a:p>
        </p:txBody>
      </p:sp>
      <p:sp>
        <p:nvSpPr>
          <p:cNvPr id="17" name="Oval 16"/>
          <p:cNvSpPr/>
          <p:nvPr/>
        </p:nvSpPr>
        <p:spPr>
          <a:xfrm>
            <a:off x="8199739" y="1975104"/>
            <a:ext cx="249370" cy="237744"/>
          </a:xfrm>
          <a:prstGeom prst="ellipse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4206" y="1865376"/>
            <a:ext cx="13427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₹45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30243" y="1865376"/>
            <a:ext cx="200455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C9CFE8"/>
                </a:solidFill>
                <a:latin typeface="Segoe UI"/>
              </a:rPr>
              <a:t>Technology (CRM, routing)</a:t>
            </a:r>
          </a:p>
        </p:txBody>
      </p:sp>
      <p:sp>
        <p:nvSpPr>
          <p:cNvPr id="20" name="Oval 19"/>
          <p:cNvSpPr/>
          <p:nvPr/>
        </p:nvSpPr>
        <p:spPr>
          <a:xfrm>
            <a:off x="8199739" y="2724912"/>
            <a:ext cx="249370" cy="237744"/>
          </a:xfrm>
          <a:prstGeom prst="ellipse">
            <a:avLst/>
          </a:prstGeom>
          <a:solidFill>
            <a:srgbClr val="E0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64206" y="2615184"/>
            <a:ext cx="13427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₹20 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0243" y="2615184"/>
            <a:ext cx="200455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C9CFE8"/>
                </a:solidFill>
                <a:latin typeface="Segoe UI"/>
              </a:rPr>
              <a:t>Repeat-caller retention</a:t>
            </a:r>
          </a:p>
        </p:txBody>
      </p:sp>
      <p:sp>
        <p:nvSpPr>
          <p:cNvPr id="23" name="Oval 22"/>
          <p:cNvSpPr/>
          <p:nvPr/>
        </p:nvSpPr>
        <p:spPr>
          <a:xfrm>
            <a:off x="8199739" y="3474720"/>
            <a:ext cx="249370" cy="23774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64206" y="3364991"/>
            <a:ext cx="13427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₹20 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0243" y="3364991"/>
            <a:ext cx="200455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C9CFE8"/>
                </a:solidFill>
                <a:latin typeface="Segoe UI"/>
              </a:rPr>
              <a:t>Training &amp; quality</a:t>
            </a:r>
          </a:p>
        </p:txBody>
      </p:sp>
      <p:sp>
        <p:nvSpPr>
          <p:cNvPr id="26" name="Oval 25"/>
          <p:cNvSpPr/>
          <p:nvPr/>
        </p:nvSpPr>
        <p:spPr>
          <a:xfrm>
            <a:off x="8199739" y="4224528"/>
            <a:ext cx="249370" cy="237744"/>
          </a:xfrm>
          <a:prstGeom prst="ellipse">
            <a:avLst/>
          </a:prstGeom>
          <a:solidFill>
            <a:srgbClr val="34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64206" y="4114800"/>
            <a:ext cx="13427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₹10 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0243" y="4114800"/>
            <a:ext cx="200455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C9CFE8"/>
                </a:solidFill>
                <a:latin typeface="Segoe UI"/>
              </a:rPr>
              <a:t>Peak &amp; evening staffing</a:t>
            </a:r>
          </a:p>
        </p:txBody>
      </p:sp>
      <p:sp>
        <p:nvSpPr>
          <p:cNvPr id="29" name="Oval 28"/>
          <p:cNvSpPr/>
          <p:nvPr/>
        </p:nvSpPr>
        <p:spPr>
          <a:xfrm>
            <a:off x="8199739" y="4974336"/>
            <a:ext cx="249370" cy="237744"/>
          </a:xfrm>
          <a:prstGeom prst="ellipse">
            <a:avLst/>
          </a:prstGeom>
          <a:solidFill>
            <a:srgbClr val="2F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64206" y="4864608"/>
            <a:ext cx="13427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 Semibold"/>
              </a:rPr>
              <a:t>₹5 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0243" y="4864608"/>
            <a:ext cx="200455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C9CFE8"/>
                </a:solidFill>
                <a:latin typeface="Segoe UI"/>
              </a:rPr>
              <a:t>Analytics &amp; monitoring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0558" y="5650992"/>
            <a:ext cx="3500783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0558" y="5797296"/>
            <a:ext cx="3577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5B841"/>
                </a:solidFill>
                <a:latin typeface="Segoe UI"/>
              </a:rPr>
              <a:t>Why? </a:t>
            </a:r>
            <a:r>
              <a:rPr sz="1200" b="0" i="0">
                <a:solidFill>
                  <a:srgbClr val="C9CFE8"/>
                </a:solidFill>
                <a:latin typeface="Segoe UI"/>
              </a:rPr>
              <a:t>capacity is fine — connection reliability is the constraint.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78781" y="1609344"/>
          <a:ext cx="4366213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454212" y="3300984"/>
            <a:ext cx="24153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300" b="1">
                <a:solidFill>
                  <a:srgbClr val="1B213D"/>
                </a:solidFill>
                <a:latin typeface="Segoe UI Semibold"/>
              </a:rPr>
              <a:t>₹1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54212" y="3913632"/>
            <a:ext cx="2415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747C9B"/>
                </a:solidFill>
                <a:latin typeface="Segoe UI"/>
              </a:rPr>
              <a:t>total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56472" y="1938528"/>
            <a:ext cx="241535" cy="237744"/>
          </a:xfrm>
          <a:prstGeom prst="roundRect">
            <a:avLst>
              <a:gd name="adj" fmla="val 35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6644" y="1837944"/>
            <a:ext cx="21967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1B213D"/>
                </a:solidFill>
                <a:latin typeface="Segoe UI"/>
              </a:rPr>
              <a:t>Technology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6472" y="2871216"/>
            <a:ext cx="241535" cy="237744"/>
          </a:xfrm>
          <a:prstGeom prst="roundRect">
            <a:avLst>
              <a:gd name="adj" fmla="val 35000"/>
            </a:avLst>
          </a:prstGeom>
          <a:solidFill>
            <a:srgbClr val="E0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46644" y="2770632"/>
            <a:ext cx="21967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1B213D"/>
                </a:solidFill>
                <a:latin typeface="Segoe UI"/>
              </a:rPr>
              <a:t>Repeat-caller Retention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6472" y="3803904"/>
            <a:ext cx="241535" cy="237744"/>
          </a:xfrm>
          <a:prstGeom prst="roundRect">
            <a:avLst>
              <a:gd name="adj" fmla="val 35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46644" y="3703320"/>
            <a:ext cx="21967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1B213D"/>
                </a:solidFill>
                <a:latin typeface="Segoe UI"/>
              </a:rPr>
              <a:t>Training &amp; Quality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56472" y="4736592"/>
            <a:ext cx="241535" cy="237744"/>
          </a:xfrm>
          <a:prstGeom prst="roundRect">
            <a:avLst>
              <a:gd name="adj" fmla="val 35000"/>
            </a:avLst>
          </a:prstGeom>
          <a:solidFill>
            <a:srgbClr val="34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46644" y="4636008"/>
            <a:ext cx="21967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1B213D"/>
                </a:solidFill>
                <a:latin typeface="Segoe UI"/>
              </a:rPr>
              <a:t>Peak &amp; Evening Staffing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56472" y="5669280"/>
            <a:ext cx="241535" cy="237744"/>
          </a:xfrm>
          <a:prstGeom prst="roundRect">
            <a:avLst>
              <a:gd name="adj" fmla="val 35000"/>
            </a:avLst>
          </a:prstGeom>
          <a:solidFill>
            <a:srgbClr val="2F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46644" y="5568696"/>
            <a:ext cx="21967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1B213D"/>
                </a:solidFill>
                <a:latin typeface="Segoe UI"/>
              </a:rPr>
              <a:t>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7186" y="0"/>
            <a:ext cx="1238611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0786" y="-1554480"/>
            <a:ext cx="3901722" cy="3840480"/>
          </a:xfrm>
          <a:prstGeom prst="ellipse">
            <a:avLst/>
          </a:prstGeom>
          <a:solidFill>
            <a:srgbClr val="7C5CFC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583556" y="4846320"/>
            <a:ext cx="3344333" cy="3291840"/>
          </a:xfrm>
          <a:prstGeom prst="ellipse">
            <a:avLst/>
          </a:prstGeom>
          <a:solidFill>
            <a:srgbClr val="F5B84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5-Point Star 4"/>
          <p:cNvSpPr/>
          <p:nvPr/>
        </p:nvSpPr>
        <p:spPr>
          <a:xfrm>
            <a:off x="181610" y="146304"/>
            <a:ext cx="157926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9580" y="118872"/>
            <a:ext cx="60383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5B841"/>
                </a:solidFill>
                <a:latin typeface="Segoe UI Semibold"/>
              </a:rPr>
              <a:t>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4092" y="128016"/>
            <a:ext cx="5694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>
                <a:solidFill>
                  <a:srgbClr val="394063"/>
                </a:solidFill>
                <a:latin typeface="Segoe UI Semibold"/>
              </a:rPr>
              <a:t>From 28,027 consultations to a ₹1 Cr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928" y="365760"/>
            <a:ext cx="118445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B213D"/>
                </a:solidFill>
                <a:latin typeface="Segoe UI Semibold"/>
              </a:rPr>
              <a:t>Conclusion &amp;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508" y="822960"/>
            <a:ext cx="538809" cy="41148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508" y="6592824"/>
            <a:ext cx="7431852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898" y="6592824"/>
            <a:ext cx="95685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47C9B"/>
                </a:solidFill>
                <a:latin typeface="Segoe UI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508" y="1152144"/>
            <a:ext cx="7320374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1508" y="1271016"/>
            <a:ext cx="83608" cy="73152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1623" y="1371600"/>
            <a:ext cx="538809" cy="530352"/>
          </a:xfrm>
          <a:prstGeom prst="ellipse">
            <a:avLst/>
          </a:prstGeom>
          <a:solidFill>
            <a:srgbClr val="E4D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23" y="1371600"/>
            <a:ext cx="53880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7C5CFC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6939" y="1243584"/>
            <a:ext cx="61312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13D"/>
                </a:solidFill>
                <a:latin typeface="Segoe UI Semibold"/>
              </a:rPr>
              <a:t>Fix connection reliability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6939" y="1591056"/>
            <a:ext cx="613127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94063"/>
                </a:solidFill>
                <a:latin typeface="Segoe UI"/>
              </a:rPr>
              <a:t>Only 28% of chats complete and ~34% of calls go unanswered; failed sessions score 0/10 vs 7.0/10 once they connect — the biggest, fastest win.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508" y="2212848"/>
            <a:ext cx="7320374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81508" y="2331720"/>
            <a:ext cx="83608" cy="731520"/>
          </a:xfrm>
          <a:prstGeom prst="roundRect">
            <a:avLst>
              <a:gd name="adj" fmla="val 50000"/>
            </a:avLst>
          </a:prstGeom>
          <a:solidFill>
            <a:srgbClr val="34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1623" y="2432304"/>
            <a:ext cx="538809" cy="530352"/>
          </a:xfrm>
          <a:prstGeom prst="ellipse">
            <a:avLst/>
          </a:prstGeom>
          <a:solidFill>
            <a:srgbClr val="D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1623" y="2432304"/>
            <a:ext cx="53880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34D3EE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6939" y="2304288"/>
            <a:ext cx="61312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13D"/>
                </a:solidFill>
                <a:latin typeface="Segoe UI Semibold"/>
              </a:rPr>
              <a:t>Protect &amp; grow the repeat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6939" y="2651760"/>
            <a:ext cx="613127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94063"/>
                </a:solidFill>
                <a:latin typeface="Segoe UI"/>
              </a:rPr>
              <a:t>48.9% of 10,344 customers are repeat callers, yet they drive 81% of volume and ~98% of net revenue. Fund CRM and loyalty to defend the 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508" y="3273552"/>
            <a:ext cx="7320374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81508" y="3392424"/>
            <a:ext cx="83608" cy="731520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1623" y="3493008"/>
            <a:ext cx="538809" cy="530352"/>
          </a:xfrm>
          <a:prstGeom prst="ellipse">
            <a:avLst/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1623" y="3493008"/>
            <a:ext cx="53880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5B841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6939" y="3364992"/>
            <a:ext cx="61312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13D"/>
                </a:solidFill>
                <a:latin typeface="Segoe UI Semibold"/>
              </a:rPr>
              <a:t>Close the guru quality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6939" y="3712464"/>
            <a:ext cx="613127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94063"/>
                </a:solidFill>
                <a:latin typeface="Segoe UI"/>
              </a:rPr>
              <a:t>Ratings average just 2.9/10 and span 0.10 → 5.95. Coach the bottom with QA scorecards, codify the top gurus’ habits, and route premium callers to them.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1508" y="4334256"/>
            <a:ext cx="7320374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81508" y="4453128"/>
            <a:ext cx="83608" cy="731520"/>
          </a:xfrm>
          <a:prstGeom prst="roundRect">
            <a:avLst>
              <a:gd name="adj" fmla="val 50000"/>
            </a:avLst>
          </a:prstGeom>
          <a:solidFill>
            <a:srgbClr val="E0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41623" y="4553712"/>
            <a:ext cx="538809" cy="530352"/>
          </a:xfrm>
          <a:prstGeom prst="ellipse">
            <a:avLst/>
          </a:prstGeom>
          <a:solidFill>
            <a:srgbClr val="F8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623" y="4553712"/>
            <a:ext cx="53880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E056A0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6939" y="4425696"/>
            <a:ext cx="61312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13D"/>
                </a:solidFill>
                <a:latin typeface="Segoe UI Semibold"/>
              </a:rPr>
              <a:t>Balance a lopsided workload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6939" y="4773168"/>
            <a:ext cx="613127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94063"/>
                </a:solidFill>
                <a:latin typeface="Segoe UI"/>
              </a:rPr>
              <a:t>19 of 131 agents carry ~60% of volume (top 10 alone = 37%). Skill-based routing plus per-agent caps cut queues and prevent burnout.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1508" y="5394960"/>
            <a:ext cx="7320374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81508" y="5513832"/>
            <a:ext cx="83608" cy="731520"/>
          </a:xfrm>
          <a:prstGeom prst="roundRect">
            <a:avLst>
              <a:gd name="adj" fmla="val 50000"/>
            </a:avLst>
          </a:prstGeom>
          <a:solidFill>
            <a:srgbClr val="2F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41623" y="5614416"/>
            <a:ext cx="538809" cy="530352"/>
          </a:xfrm>
          <a:prstGeom prst="ellipse">
            <a:avLst/>
          </a:prstGeom>
          <a:solidFill>
            <a:srgbClr val="D5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1623" y="5614416"/>
            <a:ext cx="53880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2FC58A"/>
                </a:solidFill>
                <a:latin typeface="Segoe UI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6939" y="5486400"/>
            <a:ext cx="61312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B213D"/>
                </a:solidFill>
                <a:latin typeface="Segoe UI Semibold"/>
              </a:rPr>
              <a:t>Staff the peaks, scale Calls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939" y="5833872"/>
            <a:ext cx="613127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94063"/>
                </a:solidFill>
                <a:latin typeface="Segoe UI"/>
              </a:rPr>
              <a:t>Demand peaks at 06–10 and 15–16 while night ratings fall to 1.7. Calls monetise 8.5× better than Chat (₹19.8 vs ₹2.33) — add cover, grow Calls.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4838" y="1152144"/>
            <a:ext cx="4282604" cy="5212080"/>
          </a:xfrm>
          <a:prstGeom prst="roundRect">
            <a:avLst>
              <a:gd name="adj" fmla="val 9000"/>
            </a:avLst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5-Point Star 42"/>
          <p:cNvSpPr/>
          <p:nvPr/>
        </p:nvSpPr>
        <p:spPr>
          <a:xfrm>
            <a:off x="8022112" y="1435608"/>
            <a:ext cx="157926" cy="155448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00806" y="1408176"/>
            <a:ext cx="344652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B841"/>
                </a:solidFill>
                <a:latin typeface="Segoe UI Semibold"/>
              </a:rPr>
              <a:t>THE BOTTOM 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3533" y="1755648"/>
            <a:ext cx="372521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D36E"/>
                </a:solidFill>
                <a:latin typeface="Segoe UI Semibold"/>
              </a:rPr>
              <a:t>37%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2112" y="2487168"/>
            <a:ext cx="37066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9CFE8"/>
                </a:solidFill>
                <a:latin typeface="Segoe UI"/>
              </a:rPr>
              <a:t>of chats never connect — fixing this one gap lifts satisfaction and unlocks the most revenue, fast.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22112" y="3310128"/>
            <a:ext cx="3688056" cy="18288"/>
          </a:xfrm>
          <a:prstGeom prst="rect">
            <a:avLst/>
          </a:prstGeom>
          <a:solidFill>
            <a:srgbClr val="2A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22112" y="3429000"/>
            <a:ext cx="370663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5B841"/>
                </a:solidFill>
                <a:latin typeface="Segoe UI"/>
              </a:rPr>
              <a:t>▸  </a:t>
            </a:r>
            <a:r>
              <a:rPr sz="1250" b="1">
                <a:solidFill>
                  <a:srgbClr val="FFFFFF"/>
                </a:solidFill>
                <a:latin typeface="Segoe UI Semibold"/>
              </a:rPr>
              <a:t>Small base, big impact  </a:t>
            </a:r>
            <a:r>
              <a:rPr sz="1250">
                <a:solidFill>
                  <a:srgbClr val="C9CFE8"/>
                </a:solidFill>
                <a:latin typeface="Segoe UI"/>
              </a:rPr>
              <a:t>48.9% repeat callers = 81% of volume and ~98% of revenue.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2112" y="4114800"/>
            <a:ext cx="370663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5B841"/>
                </a:solidFill>
                <a:latin typeface="Segoe UI"/>
              </a:rPr>
              <a:t>▸  </a:t>
            </a:r>
            <a:r>
              <a:rPr sz="1250" b="1">
                <a:solidFill>
                  <a:srgbClr val="FFFFFF"/>
                </a:solidFill>
                <a:latin typeface="Segoe UI Semibold"/>
              </a:rPr>
              <a:t>Uneven delivery  </a:t>
            </a:r>
            <a:r>
              <a:rPr sz="1250">
                <a:solidFill>
                  <a:srgbClr val="C9CFE8"/>
                </a:solidFill>
                <a:latin typeface="Segoe UI"/>
              </a:rPr>
              <a:t>ratings span 0.10–5.95; 19 of 131 agents do ~60% of the work.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2112" y="4800600"/>
            <a:ext cx="370663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F5B841"/>
                </a:solidFill>
                <a:latin typeface="Segoe UI"/>
              </a:rPr>
              <a:t>▸  </a:t>
            </a:r>
            <a:r>
              <a:rPr sz="1250" b="1">
                <a:solidFill>
                  <a:srgbClr val="FFFFFF"/>
                </a:solidFill>
                <a:latin typeface="Segoe UI Semibold"/>
              </a:rPr>
              <a:t>The ₹1 Cr plan  </a:t>
            </a:r>
            <a:r>
              <a:rPr sz="1250">
                <a:solidFill>
                  <a:srgbClr val="C9CFE8"/>
                </a:solidFill>
                <a:latin typeface="Segoe UI"/>
              </a:rPr>
              <a:t>reliability-first: ₹45L tech, ₹40L retention &amp; training, ₹15L ops.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2112" y="5596128"/>
            <a:ext cx="370663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>
                <a:solidFill>
                  <a:srgbClr val="FFD36E"/>
                </a:solidFill>
                <a:latin typeface="Segoe UI Semibold"/>
              </a:rPr>
              <a:t>Fix connection reliability first </a:t>
            </a:r>
            <a:r>
              <a:rPr sz="1250">
                <a:solidFill>
                  <a:srgbClr val="C9CFE8"/>
                </a:solidFill>
                <a:latin typeface="Segoe UI"/>
              </a:rPr>
              <a:t>— the rest compounds from there.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7186" y="0"/>
            <a:ext cx="12386110" cy="6858000"/>
          </a:xfrm>
          <a:prstGeom prst="rect">
            <a:avLst/>
          </a:prstGeom>
          <a:gradFill rotWithShape="1">
            <a:gsLst>
              <a:gs pos="0">
                <a:srgbClr val="0B1026"/>
              </a:gs>
              <a:gs pos="100000">
                <a:srgbClr val="141A3A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769352" y="-1463040"/>
            <a:ext cx="5109398" cy="5029200"/>
          </a:xfrm>
          <a:prstGeom prst="ellipse">
            <a:avLst/>
          </a:prstGeom>
          <a:solidFill>
            <a:srgbClr val="7C5CFC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44591" y="3749039"/>
            <a:ext cx="5573889" cy="5486400"/>
          </a:xfrm>
          <a:prstGeom prst="ellipse">
            <a:avLst/>
          </a:prstGeom>
          <a:solidFill>
            <a:srgbClr val="E056A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01405" y="-2011680"/>
            <a:ext cx="4644907" cy="4572000"/>
          </a:xfrm>
          <a:prstGeom prst="ellipse">
            <a:avLst/>
          </a:prstGeom>
          <a:solidFill>
            <a:srgbClr val="34D3EE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80129" y="2866850"/>
            <a:ext cx="23224" cy="22860"/>
          </a:xfrm>
          <a:prstGeom prst="ellipse">
            <a:avLst/>
          </a:prstGeom>
          <a:solidFill>
            <a:srgbClr val="FFD36E">
              <a:alpha val="326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161610" y="3255130"/>
            <a:ext cx="23224" cy="22860"/>
          </a:xfrm>
          <a:prstGeom prst="ellipse">
            <a:avLst/>
          </a:prstGeom>
          <a:solidFill>
            <a:srgbClr val="34D3EE">
              <a:alpha val="198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26634" y="21812"/>
            <a:ext cx="37159" cy="36576"/>
          </a:xfrm>
          <a:prstGeom prst="ellipse">
            <a:avLst/>
          </a:prstGeom>
          <a:solidFill>
            <a:srgbClr val="FFD36E">
              <a:alpha val="521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0734" y="5443544"/>
            <a:ext cx="27869" cy="27432"/>
          </a:xfrm>
          <a:prstGeom prst="ellipse">
            <a:avLst/>
          </a:prstGeom>
          <a:solidFill>
            <a:srgbClr val="FFFFFF">
              <a:alpha val="516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7184" y="6841274"/>
            <a:ext cx="46449" cy="45720"/>
          </a:xfrm>
          <a:prstGeom prst="ellipse">
            <a:avLst/>
          </a:prstGeom>
          <a:solidFill>
            <a:srgbClr val="A78BFA">
              <a:alpha val="384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53420" y="3704344"/>
            <a:ext cx="18579" cy="18288"/>
          </a:xfrm>
          <a:prstGeom prst="ellipse">
            <a:avLst/>
          </a:prstGeom>
          <a:solidFill>
            <a:srgbClr val="FFFFFF">
              <a:alpha val="398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90470" y="5081927"/>
            <a:ext cx="27869" cy="27432"/>
          </a:xfrm>
          <a:prstGeom prst="ellipse">
            <a:avLst/>
          </a:prstGeom>
          <a:solidFill>
            <a:srgbClr val="FFFFFF">
              <a:alpha val="173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15302" y="3785635"/>
            <a:ext cx="18579" cy="18288"/>
          </a:xfrm>
          <a:prstGeom prst="ellipse">
            <a:avLst/>
          </a:prstGeom>
          <a:solidFill>
            <a:srgbClr val="FFD36E">
              <a:alpha val="292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217885" y="254703"/>
            <a:ext cx="23224" cy="22860"/>
          </a:xfrm>
          <a:prstGeom prst="ellipse">
            <a:avLst/>
          </a:prstGeom>
          <a:solidFill>
            <a:srgbClr val="FFFFFF">
              <a:alpha val="152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486087" y="6643817"/>
            <a:ext cx="23224" cy="22860"/>
          </a:xfrm>
          <a:prstGeom prst="ellipse">
            <a:avLst/>
          </a:prstGeom>
          <a:solidFill>
            <a:srgbClr val="34D3EE">
              <a:alpha val="545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19837" y="3266639"/>
            <a:ext cx="18579" cy="18288"/>
          </a:xfrm>
          <a:prstGeom prst="ellipse">
            <a:avLst/>
          </a:prstGeom>
          <a:solidFill>
            <a:srgbClr val="A78BFA">
              <a:alpha val="2064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96226" y="2809048"/>
            <a:ext cx="23224" cy="22860"/>
          </a:xfrm>
          <a:prstGeom prst="ellipse">
            <a:avLst/>
          </a:prstGeom>
          <a:solidFill>
            <a:srgbClr val="FFD36E">
              <a:alpha val="530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81098" y="6822631"/>
            <a:ext cx="37159" cy="36576"/>
          </a:xfrm>
          <a:prstGeom prst="ellipse">
            <a:avLst/>
          </a:prstGeom>
          <a:solidFill>
            <a:srgbClr val="A78BFA">
              <a:alpha val="234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57973" y="4924678"/>
            <a:ext cx="55738" cy="54864"/>
          </a:xfrm>
          <a:prstGeom prst="ellipse">
            <a:avLst/>
          </a:prstGeom>
          <a:solidFill>
            <a:srgbClr val="A78BFA">
              <a:alpha val="121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20511" y="5130991"/>
            <a:ext cx="18579" cy="18288"/>
          </a:xfrm>
          <a:prstGeom prst="ellipse">
            <a:avLst/>
          </a:prstGeom>
          <a:solidFill>
            <a:srgbClr val="FFFFFF">
              <a:alpha val="365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95522" y="4269946"/>
            <a:ext cx="27869" cy="27432"/>
          </a:xfrm>
          <a:prstGeom prst="ellipse">
            <a:avLst/>
          </a:prstGeom>
          <a:solidFill>
            <a:srgbClr val="FFFFFF">
              <a:alpha val="407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15746" y="6357870"/>
            <a:ext cx="46449" cy="45720"/>
          </a:xfrm>
          <a:prstGeom prst="ellipse">
            <a:avLst/>
          </a:prstGeom>
          <a:solidFill>
            <a:srgbClr val="FFD36E">
              <a:alpha val="447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46890" y="1156892"/>
            <a:ext cx="27869" cy="27432"/>
          </a:xfrm>
          <a:prstGeom prst="ellipse">
            <a:avLst/>
          </a:prstGeom>
          <a:solidFill>
            <a:srgbClr val="FFFFFF">
              <a:alpha val="4541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883168" y="251670"/>
            <a:ext cx="27869" cy="27432"/>
          </a:xfrm>
          <a:prstGeom prst="ellipse">
            <a:avLst/>
          </a:prstGeom>
          <a:solidFill>
            <a:srgbClr val="34D3EE">
              <a:alpha val="506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944142" y="6783313"/>
            <a:ext cx="23224" cy="22860"/>
          </a:xfrm>
          <a:prstGeom prst="ellipse">
            <a:avLst/>
          </a:prstGeom>
          <a:solidFill>
            <a:srgbClr val="34D3EE">
              <a:alpha val="126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983301" y="2575591"/>
            <a:ext cx="27869" cy="27432"/>
          </a:xfrm>
          <a:prstGeom prst="ellipse">
            <a:avLst/>
          </a:prstGeom>
          <a:solidFill>
            <a:srgbClr val="FFFFFF">
              <a:alpha val="5226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912987" y="475500"/>
            <a:ext cx="23224" cy="22860"/>
          </a:xfrm>
          <a:prstGeom prst="ellipse">
            <a:avLst/>
          </a:prstGeom>
          <a:solidFill>
            <a:srgbClr val="A78BFA">
              <a:alpha val="452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4159" y="1974972"/>
            <a:ext cx="27869" cy="27432"/>
          </a:xfrm>
          <a:prstGeom prst="ellipse">
            <a:avLst/>
          </a:prstGeom>
          <a:solidFill>
            <a:srgbClr val="FFD36E">
              <a:alpha val="403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99423" y="1170178"/>
            <a:ext cx="18579" cy="18288"/>
          </a:xfrm>
          <a:prstGeom prst="ellipse">
            <a:avLst/>
          </a:prstGeom>
          <a:solidFill>
            <a:srgbClr val="FFFFFF">
              <a:alpha val="494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039726" y="6744479"/>
            <a:ext cx="46449" cy="45720"/>
          </a:xfrm>
          <a:prstGeom prst="ellipse">
            <a:avLst/>
          </a:prstGeom>
          <a:solidFill>
            <a:srgbClr val="A78BFA">
              <a:alpha val="141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779576" y="3604755"/>
            <a:ext cx="23224" cy="22860"/>
          </a:xfrm>
          <a:prstGeom prst="ellipse">
            <a:avLst/>
          </a:prstGeom>
          <a:solidFill>
            <a:srgbClr val="A78BFA">
              <a:alpha val="132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043364" y="2508140"/>
            <a:ext cx="23224" cy="22860"/>
          </a:xfrm>
          <a:prstGeom prst="ellipse">
            <a:avLst/>
          </a:prstGeom>
          <a:solidFill>
            <a:srgbClr val="FFFFFF">
              <a:alpha val="499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474345" y="3322416"/>
            <a:ext cx="37159" cy="36576"/>
          </a:xfrm>
          <a:prstGeom prst="ellipse">
            <a:avLst/>
          </a:prstGeom>
          <a:solidFill>
            <a:srgbClr val="A78BFA">
              <a:alpha val="252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90955" y="955393"/>
            <a:ext cx="37159" cy="36576"/>
          </a:xfrm>
          <a:prstGeom prst="ellipse">
            <a:avLst/>
          </a:prstGeom>
          <a:solidFill>
            <a:srgbClr val="FFFFFF">
              <a:alpha val="284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718846" y="161167"/>
            <a:ext cx="23224" cy="22860"/>
          </a:xfrm>
          <a:prstGeom prst="ellipse">
            <a:avLst/>
          </a:prstGeom>
          <a:solidFill>
            <a:srgbClr val="34D3EE">
              <a:alpha val="260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451842" y="4007405"/>
            <a:ext cx="23224" cy="22860"/>
          </a:xfrm>
          <a:prstGeom prst="ellipse">
            <a:avLst/>
          </a:prstGeom>
          <a:solidFill>
            <a:srgbClr val="FFD36E">
              <a:alpha val="413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777537" y="6210651"/>
            <a:ext cx="55738" cy="54864"/>
          </a:xfrm>
          <a:prstGeom prst="ellipse">
            <a:avLst/>
          </a:prstGeom>
          <a:solidFill>
            <a:srgbClr val="FFFFFF">
              <a:alpha val="181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6350" y="173624"/>
            <a:ext cx="27869" cy="27432"/>
          </a:xfrm>
          <a:prstGeom prst="ellipse">
            <a:avLst/>
          </a:prstGeom>
          <a:solidFill>
            <a:srgbClr val="A78BFA">
              <a:alpha val="458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45735" y="4494206"/>
            <a:ext cx="18579" cy="18288"/>
          </a:xfrm>
          <a:prstGeom prst="ellipse">
            <a:avLst/>
          </a:prstGeom>
          <a:solidFill>
            <a:srgbClr val="FFFFFF">
              <a:alpha val="250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811197" y="6089603"/>
            <a:ext cx="27869" cy="27432"/>
          </a:xfrm>
          <a:prstGeom prst="ellipse">
            <a:avLst/>
          </a:prstGeom>
          <a:solidFill>
            <a:srgbClr val="34D3EE">
              <a:alpha val="191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523830" y="1382716"/>
            <a:ext cx="23224" cy="22860"/>
          </a:xfrm>
          <a:prstGeom prst="ellipse">
            <a:avLst/>
          </a:prstGeom>
          <a:solidFill>
            <a:srgbClr val="34D3EE">
              <a:alpha val="445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707803" y="5992993"/>
            <a:ext cx="37159" cy="36576"/>
          </a:xfrm>
          <a:prstGeom prst="ellipse">
            <a:avLst/>
          </a:prstGeom>
          <a:solidFill>
            <a:srgbClr val="FFFFFF">
              <a:alpha val="460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704264" y="5928486"/>
            <a:ext cx="18579" cy="18288"/>
          </a:xfrm>
          <a:prstGeom prst="ellipse">
            <a:avLst/>
          </a:prstGeom>
          <a:solidFill>
            <a:srgbClr val="A78BFA">
              <a:alpha val="448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485993" y="1600090"/>
            <a:ext cx="23224" cy="22860"/>
          </a:xfrm>
          <a:prstGeom prst="ellipse">
            <a:avLst/>
          </a:prstGeom>
          <a:solidFill>
            <a:srgbClr val="34D3EE">
              <a:alpha val="254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933831" y="1071037"/>
            <a:ext cx="18579" cy="18288"/>
          </a:xfrm>
          <a:prstGeom prst="ellipse">
            <a:avLst/>
          </a:prstGeom>
          <a:solidFill>
            <a:srgbClr val="FFD36E">
              <a:alpha val="4715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706904" y="6502872"/>
            <a:ext cx="55738" cy="54864"/>
          </a:xfrm>
          <a:prstGeom prst="ellipse">
            <a:avLst/>
          </a:prstGeom>
          <a:solidFill>
            <a:srgbClr val="FFFFFF">
              <a:alpha val="354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197590" y="5037698"/>
            <a:ext cx="18579" cy="18288"/>
          </a:xfrm>
          <a:prstGeom prst="ellipse">
            <a:avLst/>
          </a:prstGeom>
          <a:solidFill>
            <a:srgbClr val="34D3EE">
              <a:alpha val="253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4-Point Star 47"/>
          <p:cNvSpPr/>
          <p:nvPr/>
        </p:nvSpPr>
        <p:spPr>
          <a:xfrm>
            <a:off x="8566238" y="3605844"/>
            <a:ext cx="148637" cy="146304"/>
          </a:xfrm>
          <a:prstGeom prst="star4">
            <a:avLst/>
          </a:prstGeom>
          <a:solidFill>
            <a:srgbClr val="F5B841">
              <a:alpha val="3568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4-Point Star 48"/>
          <p:cNvSpPr/>
          <p:nvPr/>
        </p:nvSpPr>
        <p:spPr>
          <a:xfrm>
            <a:off x="7538345" y="2233938"/>
            <a:ext cx="92898" cy="91440"/>
          </a:xfrm>
          <a:prstGeom prst="star4">
            <a:avLst/>
          </a:prstGeom>
          <a:solidFill>
            <a:srgbClr val="F5B841">
              <a:alpha val="4065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4-Point Star 49"/>
          <p:cNvSpPr/>
          <p:nvPr/>
        </p:nvSpPr>
        <p:spPr>
          <a:xfrm>
            <a:off x="3842814" y="6811484"/>
            <a:ext cx="92898" cy="91440"/>
          </a:xfrm>
          <a:prstGeom prst="star4">
            <a:avLst/>
          </a:prstGeom>
          <a:solidFill>
            <a:srgbClr val="F5B841">
              <a:alpha val="560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4-Point Star 50"/>
          <p:cNvSpPr/>
          <p:nvPr/>
        </p:nvSpPr>
        <p:spPr>
          <a:xfrm>
            <a:off x="7975002" y="4296859"/>
            <a:ext cx="120767" cy="118872"/>
          </a:xfrm>
          <a:prstGeom prst="star4">
            <a:avLst/>
          </a:prstGeom>
          <a:solidFill>
            <a:srgbClr val="F5B841">
              <a:alpha val="451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4-Point Star 51"/>
          <p:cNvSpPr/>
          <p:nvPr/>
        </p:nvSpPr>
        <p:spPr>
          <a:xfrm>
            <a:off x="11633088" y="4662714"/>
            <a:ext cx="148637" cy="146304"/>
          </a:xfrm>
          <a:prstGeom prst="star4">
            <a:avLst/>
          </a:prstGeom>
          <a:solidFill>
            <a:srgbClr val="F5B841">
              <a:alpha val="4327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888192" y="320039"/>
            <a:ext cx="2415352" cy="2377440"/>
          </a:xfrm>
          <a:prstGeom prst="ellipse">
            <a:avLst/>
          </a:prstGeom>
          <a:noFill/>
          <a:ln w="12700">
            <a:solidFill>
              <a:srgbClr val="A78BFA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377252" y="-182880"/>
            <a:ext cx="3437231" cy="3383280"/>
          </a:xfrm>
          <a:prstGeom prst="ellipse">
            <a:avLst/>
          </a:prstGeom>
          <a:noFill/>
          <a:ln w="12700">
            <a:solidFill>
              <a:srgbClr val="A78BFA">
                <a:alpha val="11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5-Point Star 54"/>
          <p:cNvSpPr/>
          <p:nvPr/>
        </p:nvSpPr>
        <p:spPr>
          <a:xfrm>
            <a:off x="5910072" y="868680"/>
            <a:ext cx="371592" cy="365760"/>
          </a:xfrm>
          <a:prstGeom prst="star5">
            <a:avLst/>
          </a:prstGeom>
          <a:solidFill>
            <a:srgbClr val="F5B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-97186" y="1645920"/>
            <a:ext cx="1238611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00" b="1" i="0">
                <a:solidFill>
                  <a:srgbClr val="F5B841"/>
                </a:solidFill>
                <a:latin typeface="Segoe UI Semibold"/>
              </a:rPr>
              <a:t>Thank You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7591" y="2834640"/>
            <a:ext cx="1015655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C9CFE8"/>
                </a:solidFill>
                <a:latin typeface="Segoe UI"/>
              </a:rPr>
              <a:t>Capacity is adequate — quality, consistency and monetisation are the real constraints.</a:t>
            </a:r>
          </a:p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C9CFE8"/>
                </a:solidFill>
                <a:latin typeface="Segoe UI"/>
              </a:rPr>
              <a:t>Lead with training + technology, protect the 81% repeat base, and profit compounds.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04512" y="4526280"/>
            <a:ext cx="2136657" cy="859536"/>
          </a:xfrm>
          <a:prstGeom prst="roundRect">
            <a:avLst>
              <a:gd name="adj" fmla="val 14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404512" y="4608576"/>
            <a:ext cx="2136657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₹2.14 L</a:t>
            </a:r>
          </a:p>
          <a:p>
            <a:pPr algn="ctr"/>
            <a:r>
              <a:rPr sz="1050" b="0" i="0">
                <a:solidFill>
                  <a:srgbClr val="C9CFE8"/>
                </a:solidFill>
                <a:latin typeface="Segoe UI"/>
              </a:rPr>
              <a:t>revenue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19864" y="4526280"/>
            <a:ext cx="2136657" cy="859536"/>
          </a:xfrm>
          <a:prstGeom prst="roundRect">
            <a:avLst>
              <a:gd name="adj" fmla="val 14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19864" y="4608576"/>
            <a:ext cx="2136657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54%</a:t>
            </a:r>
          </a:p>
          <a:p>
            <a:pPr algn="ctr"/>
            <a:r>
              <a:rPr sz="1050" b="0" i="0">
                <a:solidFill>
                  <a:srgbClr val="C9CFE8"/>
                </a:solidFill>
                <a:latin typeface="Segoe UI"/>
              </a:rPr>
              <a:t>gross margin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5216" y="4526280"/>
            <a:ext cx="2136657" cy="859536"/>
          </a:xfrm>
          <a:prstGeom prst="roundRect">
            <a:avLst>
              <a:gd name="adj" fmla="val 14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5216" y="4608576"/>
            <a:ext cx="2136657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81%</a:t>
            </a:r>
          </a:p>
          <a:p>
            <a:pPr algn="ctr"/>
            <a:r>
              <a:rPr sz="1050" b="0" i="0">
                <a:solidFill>
                  <a:srgbClr val="C9CFE8"/>
                </a:solidFill>
                <a:latin typeface="Segoe UI"/>
              </a:rPr>
              <a:t>repeat volume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50568" y="4526280"/>
            <a:ext cx="2136657" cy="859536"/>
          </a:xfrm>
          <a:prstGeom prst="roundRect">
            <a:avLst>
              <a:gd name="adj" fmla="val 14000"/>
            </a:avLst>
          </a:prstGeom>
          <a:solidFill>
            <a:srgbClr val="1B2350"/>
          </a:solidFill>
          <a:ln w="9525">
            <a:solidFill>
              <a:srgbClr val="2A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50568" y="4608576"/>
            <a:ext cx="2136657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D36E"/>
                </a:solidFill>
                <a:latin typeface="Segoe UI Semibold"/>
              </a:rPr>
              <a:t>₹1 Cr</a:t>
            </a:r>
          </a:p>
          <a:p>
            <a:pPr algn="ctr"/>
            <a:r>
              <a:rPr sz="1050" b="0" i="0">
                <a:solidFill>
                  <a:srgbClr val="C9CFE8"/>
                </a:solidFill>
                <a:latin typeface="Segoe UI"/>
              </a:rPr>
              <a:t>data-backed 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7304" y="5687568"/>
            <a:ext cx="1145434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747C9B"/>
                </a:solidFill>
                <a:latin typeface="Segoe UI"/>
              </a:rPr>
              <a:t>AstroSage  ·  Call Centre Performance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874100-6000-43b6-a204-2d77792600b9}" enabled="1" method="Standard" siteId="{f38a5ecd-2813-4862-b11b-ac1d563c806f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1810</Words>
  <Application>Microsoft Office PowerPoint</Application>
  <PresentationFormat>Widescreen</PresentationFormat>
  <Paragraphs>363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Sudeep Sudarshan Rana</cp:lastModifiedBy>
  <cp:revision>3</cp:revision>
  <dcterms:created xsi:type="dcterms:W3CDTF">2013-01-27T09:14:16Z</dcterms:created>
  <dcterms:modified xsi:type="dcterms:W3CDTF">2026-07-09T09:29:48Z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Micron Confidential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Micron Confidential</vt:lpwstr>
  </property>
</Properties>
</file>